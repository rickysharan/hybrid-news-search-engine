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7" r:id="rId11"/>
    <p:sldId id="265" r:id="rId12"/>
    <p:sldId id="266"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2" d="100"/>
          <a:sy n="162" d="100"/>
        </p:scale>
        <p:origin x="144" y="2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1304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(10s):
"We built a Hybrid News Search Engine for ECS736P — combining lexical retrieval, semantic re-ranking, temporal freshness, and source authority into a single scoring pipeline."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Speaker A (20s):
"Plain BM25 treats every document as a flat bag of words — title and body carry the same weight, publication date is ignored, and it can only match exact terms. 'Monetary tightening' will never match 'interest rate hike.'"
SPEAKT — Speaker B optional (20s):
"News search needs all four things BM25 misses — field weighting, semantic understanding, temporal freshness, and source credibility. No single existing model handles all four simultaneously. That gap is exactly what we built to solve."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Speaker A (25s):
"Our system follows a three-phase pipeline. Phase 1 is ingestion — we crawl BBC and NYT RSS feeds using feedparser, preprocess with NLTK, and build a BM25F inverted index."
SCRIPT — Speaker B optional (30s):
"Phase 2 is where the intelligence happens. At query time, BM25F selects the top 100 candidates fast, then BERT re-ranks them semantically, and we apply temporal decay and source authority. Phase 3 is the Streamlit interface — the user sees a ranked list with full score breakdowns per result."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(35s):
"Our corpus is 30 articles — 15 BBC, 15 NYT, perfectly balanced. All crawled within a 2-day window in March 2026, so temporal signals are meaningful. Each article stores five fields: title, body, timestamp, source, and URL. We acknowledge the corpus is self-constructed — manual relevance judgements introduce subjectivity, which is a known limitation we'll come back 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(40s):
"Preprocessing is applied to both documents AND queries using the exact same pipeline — this is critical. If you stem documents but not queries, vocabulary breaks. Raw text goes through NLTK tokenisation, lowercasing, stopword removal with a 180-word list, and Porter stemming. The output is stored per field — title tokens and body tokens separately — which is exactly what BM25F needs for field-weighted retrieval."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Speaker A (25s):
"BM25F is our first-stage retrieval model. The key insight over plain BM25 is that we weight term frequencies per field BEFORE applying the saturation function. Title gets 1.5 times the weight of body — because a query term in a headline is stronger evidence of relevance."
SCRIPT — Speaker B optional (30s):
"This matters mathematically. If you run BM25 on title and body separately and add the scores after, you break the non-linear saturation. BM25F combines the weighted TFs first, then applies saturation once. The inverted index stores title_tf and body_tf separately per term per document to make this possible."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Speaker A (25s):
"The hybrid pipeline has four stages. BM25F goes first — it's fast and gives us the top 100 candidates with high recall. We don't apply BERT to the full corpus because that would take minutes per query."
SCRIPT — Speaker B optional (30s):
"BERT re-ranks those 100 candidates semantically. It takes the query and document together as a single input, so all 12 attention layers see both at once — that's how it catches synonyms and paraphrasing that BM25F misses. Then temporal boost decays older articles exponentially, and source authority gives BBC and NYT a credibility score of 1.0. Unknown sources get 0.7."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(45s):
"Every result gets a single final score combining all four signals. BM25F carries the highest weight at 35% — if there's no term overlap at all, the document is almost certainly irrelevant. BERT adds 25% to refine semantic ordering. Temporal gets 15% — this is the news domain's core requirement. Authority is 10% and acts as a tiebreaker. Critically, all four signals are normalised to the same scale before combination — you cannot add raw BM25F scores to BERT logits without normalisation first."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(45s):
"The interface is built with Streamlit. Users can toggle between BM25F-only mode and Full Hybrid mode to directly compare results for the same query. Every result card shows the final score prominently. Expand any card and you see the full breakdown — raw BM25F score, normalised BM25F, BERT score, temporal boost value, and authority score, with the weighted formula shown inline. This transparency is intentional — it lets you trace exactly why a document ranked where it did."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28E06-C3E1-B657-FD12-F915D71EF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B5DD2-8F3F-A7D7-A9B5-12686C3C72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608704-D076-EAB4-51D4-A069B2913F96}"/>
              </a:ext>
            </a:extLst>
          </p:cNvPr>
          <p:cNvSpPr>
            <a:spLocks noGrp="1"/>
          </p:cNvSpPr>
          <p:nvPr>
            <p:ph type="body" idx="1"/>
          </p:nvPr>
        </p:nvSpPr>
        <p:spPr/>
        <p:txBody>
          <a:bodyPr/>
          <a:lstStyle/>
          <a:p>
            <a:r>
              <a:rPr lang="en-US" dirty="0"/>
              <a:t>SCRIPT (45s):
"The interface is built with Streamlit. Users can toggle between BM25F-only mode and Full Hybrid mode to directly compare results for the same query. Every result card shows the final score prominently. Expand any card and you see the full breakdown — raw BM25F score, normalised BM25F, BERT score, temporal boost value, and authority score, with the weighted formula shown inline. This transparency is intentional — it lets you trace exactly why a document ranked where it did."</a:t>
            </a:r>
          </a:p>
        </p:txBody>
      </p:sp>
      <p:sp>
        <p:nvSpPr>
          <p:cNvPr id="4" name="Slide Number Placeholder 3">
            <a:extLst>
              <a:ext uri="{FF2B5EF4-FFF2-40B4-BE49-F238E27FC236}">
                <a16:creationId xmlns:a16="http://schemas.microsoft.com/office/drawing/2014/main" id="{F7DB5475-7653-4998-90D3-7D759E912648}"/>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164950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 Speaker A (25s):
"We evaluated using pytrec_eval — the standard TREC evaluation library used in academic IR research. 35 queries had relevance judgements. P@10 and Recall@10 are identical for both systems."
SCRIPT — Speaker B optional (30s):
"BM25F marginally outperforms on MAP by 0.0006 — this is not a failure. With only 30 documents, BERT's semantic re-ranking doesn't have enough candidates to meaningfully reorder. Both sources also have authority 1.0, so authority adds no discrimination here. What this confirms is that BM25F is a strong baseline, and the hybrid architecture adds no harm while providing extensibility for larger corpora."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(30s):
"Three honest limitations: corpus size limits BERT's impact, the cross-encoder adds latency at scale, and both sources have equal authority so that signal doesn't discriminate here. Each has a clear path forward. On contributions — Trijit owned the backend engine, Ricky owned evaluation, Siddhant owned data and corpus, and Aditya built the Streamlit UI and the presentation. Thank you."</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4A9EFF"/>
          </a:solidFill>
          <a:ln w="12700">
            <a:solidFill>
              <a:srgbClr val="4A9EFF"/>
            </a:solidFill>
            <a:prstDash val="solid"/>
          </a:ln>
        </p:spPr>
        <p:txBody>
          <a:bodyPr/>
          <a:lstStyle/>
          <a:p>
            <a:endParaRPr lang="en-IN"/>
          </a:p>
        </p:txBody>
      </p:sp>
      <p:sp>
        <p:nvSpPr>
          <p:cNvPr id="3" name="Shape 1"/>
          <p:cNvSpPr/>
          <p:nvPr/>
        </p:nvSpPr>
        <p:spPr>
          <a:xfrm>
            <a:off x="0" y="4572000"/>
            <a:ext cx="9144000" cy="571500"/>
          </a:xfrm>
          <a:prstGeom prst="rect">
            <a:avLst/>
          </a:prstGeom>
          <a:solidFill>
            <a:srgbClr val="0A1626"/>
          </a:solidFill>
          <a:ln w="12700">
            <a:solidFill>
              <a:srgbClr val="0A1626"/>
            </a:solidFill>
            <a:prstDash val="solid"/>
          </a:ln>
        </p:spPr>
        <p:txBody>
          <a:bodyPr/>
          <a:lstStyle/>
          <a:p>
            <a:endParaRPr lang="en-IN"/>
          </a:p>
        </p:txBody>
      </p:sp>
      <p:sp>
        <p:nvSpPr>
          <p:cNvPr id="4" name="Text 2"/>
          <p:cNvSpPr/>
          <p:nvPr/>
        </p:nvSpPr>
        <p:spPr>
          <a:xfrm>
            <a:off x="457200" y="640080"/>
            <a:ext cx="8412480" cy="365760"/>
          </a:xfrm>
          <a:prstGeom prst="rect">
            <a:avLst/>
          </a:prstGeom>
          <a:noFill/>
          <a:ln/>
        </p:spPr>
        <p:txBody>
          <a:bodyPr wrap="square" rtlCol="0" anchor="ctr"/>
          <a:lstStyle/>
          <a:p>
            <a:pPr marL="0" indent="0" algn="ctr">
              <a:buNone/>
            </a:pPr>
            <a:r>
              <a:rPr lang="en-US" sz="1200" b="1" dirty="0">
                <a:solidFill>
                  <a:srgbClr val="4A9EFF"/>
                </a:solidFill>
                <a:latin typeface="Calibri" pitchFamily="34" charset="0"/>
                <a:ea typeface="Calibri" pitchFamily="34" charset="-122"/>
                <a:cs typeface="Calibri" pitchFamily="34" charset="-120"/>
              </a:rPr>
              <a:t>ECS736P Information Retrieval  |  Queen Mary University of London</a:t>
            </a:r>
            <a:endParaRPr lang="en-US" sz="1200" dirty="0"/>
          </a:p>
        </p:txBody>
      </p:sp>
      <p:sp>
        <p:nvSpPr>
          <p:cNvPr id="5" name="Text 3"/>
          <p:cNvSpPr/>
          <p:nvPr/>
        </p:nvSpPr>
        <p:spPr>
          <a:xfrm>
            <a:off x="457200" y="1097280"/>
            <a:ext cx="8412480" cy="1554480"/>
          </a:xfrm>
          <a:prstGeom prst="rect">
            <a:avLst/>
          </a:prstGeom>
          <a:noFill/>
          <a:ln/>
        </p:spPr>
        <p:txBody>
          <a:bodyPr wrap="square" rtlCol="0" anchor="ctr"/>
          <a:lstStyle/>
          <a:p>
            <a:pPr marL="0" indent="0" algn="ctr">
              <a:buNone/>
            </a:pPr>
            <a:r>
              <a:rPr lang="en-US" sz="5000" b="1" dirty="0">
                <a:solidFill>
                  <a:srgbClr val="FFFFFF"/>
                </a:solidFill>
                <a:latin typeface="Calibri" pitchFamily="34" charset="0"/>
                <a:ea typeface="Calibri" pitchFamily="34" charset="-122"/>
                <a:cs typeface="Calibri" pitchFamily="34" charset="-120"/>
              </a:rPr>
              <a:t>Hybrid News Search Engine</a:t>
            </a:r>
            <a:endParaRPr lang="en-US" sz="5000" dirty="0"/>
          </a:p>
        </p:txBody>
      </p:sp>
      <p:sp>
        <p:nvSpPr>
          <p:cNvPr id="6" name="Text 4"/>
          <p:cNvSpPr/>
          <p:nvPr/>
        </p:nvSpPr>
        <p:spPr>
          <a:xfrm>
            <a:off x="457200" y="2788920"/>
            <a:ext cx="8412480" cy="411480"/>
          </a:xfrm>
          <a:prstGeom prst="rect">
            <a:avLst/>
          </a:prstGeom>
          <a:noFill/>
          <a:ln/>
        </p:spPr>
        <p:txBody>
          <a:bodyPr wrap="square" rtlCol="0" anchor="ctr"/>
          <a:lstStyle/>
          <a:p>
            <a:pPr marL="0" indent="0" algn="ctr">
              <a:buNone/>
            </a:pPr>
            <a:r>
              <a:rPr lang="en-US" sz="1400" b="1" dirty="0">
                <a:solidFill>
                  <a:srgbClr val="2EC4A0"/>
                </a:solidFill>
                <a:latin typeface="Calibri" pitchFamily="34" charset="0"/>
                <a:ea typeface="Calibri" pitchFamily="34" charset="-122"/>
                <a:cs typeface="Calibri" pitchFamily="34" charset="-120"/>
              </a:rPr>
              <a:t>BM25F  ·  BERT Cross-Encoder  ·  Temporal Boost  ·  Source Authority</a:t>
            </a:r>
            <a:endParaRPr lang="en-US" sz="1400" dirty="0"/>
          </a:p>
        </p:txBody>
      </p:sp>
      <p:sp>
        <p:nvSpPr>
          <p:cNvPr id="7" name="Text 5"/>
          <p:cNvSpPr/>
          <p:nvPr/>
        </p:nvSpPr>
        <p:spPr>
          <a:xfrm>
            <a:off x="457200" y="3337560"/>
            <a:ext cx="8412480" cy="347472"/>
          </a:xfrm>
          <a:prstGeom prst="rect">
            <a:avLst/>
          </a:prstGeom>
          <a:noFill/>
          <a:ln/>
        </p:spPr>
        <p:txBody>
          <a:bodyPr wrap="square" rtlCol="0" anchor="ctr"/>
          <a:lstStyle/>
          <a:p>
            <a:pPr marL="0" indent="0" algn="ctr">
              <a:buNone/>
            </a:pPr>
            <a:r>
              <a:rPr lang="en-US" sz="1300" dirty="0">
                <a:solidFill>
                  <a:srgbClr val="B8D0E8"/>
                </a:solidFill>
                <a:latin typeface="Calibri" pitchFamily="34" charset="0"/>
                <a:ea typeface="Calibri" pitchFamily="34" charset="-122"/>
                <a:cs typeface="Calibri" pitchFamily="34" charset="-120"/>
              </a:rPr>
              <a:t>Trijit Adhikary  ·  Aditya Kumar  ·  Ricky Sharan  ·  Siddhant Warule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Problem &amp; Motivation</a:t>
            </a:r>
            <a:endParaRPr lang="en-US" sz="2100" dirty="0"/>
          </a:p>
        </p:txBody>
      </p:sp>
      <p:sp>
        <p:nvSpPr>
          <p:cNvPr id="5" name="Shape 3"/>
          <p:cNvSpPr/>
          <p:nvPr/>
        </p:nvSpPr>
        <p:spPr>
          <a:xfrm>
            <a:off x="320040" y="713232"/>
            <a:ext cx="3977640" cy="457200"/>
          </a:xfrm>
          <a:prstGeom prst="rect">
            <a:avLst/>
          </a:prstGeom>
          <a:solidFill>
            <a:srgbClr val="FF6464"/>
          </a:solidFill>
          <a:ln w="12700">
            <a:solidFill>
              <a:srgbClr val="FF6464"/>
            </a:solidFill>
            <a:prstDash val="solid"/>
          </a:ln>
        </p:spPr>
        <p:txBody>
          <a:bodyPr/>
          <a:lstStyle/>
          <a:p>
            <a:endParaRPr lang="en-IN"/>
          </a:p>
        </p:txBody>
      </p:sp>
      <p:sp>
        <p:nvSpPr>
          <p:cNvPr id="6" name="Text 4"/>
          <p:cNvSpPr/>
          <p:nvPr/>
        </p:nvSpPr>
        <p:spPr>
          <a:xfrm>
            <a:off x="320040" y="713232"/>
            <a:ext cx="397764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Plain BM25 — What It Cannot Do</a:t>
            </a:r>
            <a:endParaRPr lang="en-US" sz="1300" dirty="0"/>
          </a:p>
        </p:txBody>
      </p:sp>
      <p:sp>
        <p:nvSpPr>
          <p:cNvPr id="7" name="Shape 5"/>
          <p:cNvSpPr/>
          <p:nvPr/>
        </p:nvSpPr>
        <p:spPr>
          <a:xfrm>
            <a:off x="320040" y="1188720"/>
            <a:ext cx="3977640" cy="2423160"/>
          </a:xfrm>
          <a:prstGeom prst="rect">
            <a:avLst/>
          </a:prstGeom>
          <a:solidFill>
            <a:srgbClr val="152338"/>
          </a:solidFill>
          <a:ln w="12700">
            <a:solidFill>
              <a:srgbClr val="152338"/>
            </a:solidFill>
            <a:prstDash val="solid"/>
          </a:ln>
        </p:spPr>
        <p:txBody>
          <a:bodyPr/>
          <a:lstStyle/>
          <a:p>
            <a:endParaRPr lang="en-IN"/>
          </a:p>
        </p:txBody>
      </p:sp>
      <p:sp>
        <p:nvSpPr>
          <p:cNvPr id="8" name="Text 6"/>
          <p:cNvSpPr/>
          <p:nvPr/>
        </p:nvSpPr>
        <p:spPr>
          <a:xfrm>
            <a:off x="457200" y="1261872"/>
            <a:ext cx="3703320" cy="2286000"/>
          </a:xfrm>
          <a:prstGeom prst="rect">
            <a:avLst/>
          </a:prstGeom>
          <a:noFill/>
          <a:ln/>
        </p:spPr>
        <p:txBody>
          <a:bodyPr wrap="square" rtlCol="0" anchor="t"/>
          <a:lstStyle/>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Treats all text as a flat bag of words</a:t>
            </a:r>
            <a:endParaRPr lang="en-US" sz="1300" dirty="0"/>
          </a:p>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Title and body carry equal weight</a:t>
            </a:r>
            <a:endParaRPr lang="en-US" sz="1300" dirty="0"/>
          </a:p>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Ignores publication date entirely</a:t>
            </a:r>
            <a:endParaRPr lang="en-US" sz="1300" dirty="0"/>
          </a:p>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Cannot handle synonyms or paraphrasing</a:t>
            </a:r>
            <a:endParaRPr lang="en-US" sz="1300" dirty="0"/>
          </a:p>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"Monetary tightening" ≠ "interest rate hike"</a:t>
            </a:r>
            <a:endParaRPr lang="en-US" sz="1300" dirty="0"/>
          </a:p>
        </p:txBody>
      </p:sp>
      <p:sp>
        <p:nvSpPr>
          <p:cNvPr id="9" name="Shape 7"/>
          <p:cNvSpPr/>
          <p:nvPr/>
        </p:nvSpPr>
        <p:spPr>
          <a:xfrm>
            <a:off x="4846320" y="713232"/>
            <a:ext cx="3977640" cy="457200"/>
          </a:xfrm>
          <a:prstGeom prst="rect">
            <a:avLst/>
          </a:prstGeom>
          <a:solidFill>
            <a:srgbClr val="2EC4A0"/>
          </a:solidFill>
          <a:ln w="12700">
            <a:solidFill>
              <a:srgbClr val="2EC4A0"/>
            </a:solidFill>
            <a:prstDash val="solid"/>
          </a:ln>
        </p:spPr>
        <p:txBody>
          <a:bodyPr/>
          <a:lstStyle/>
          <a:p>
            <a:endParaRPr lang="en-IN"/>
          </a:p>
        </p:txBody>
      </p:sp>
      <p:sp>
        <p:nvSpPr>
          <p:cNvPr id="10" name="Text 8"/>
          <p:cNvSpPr/>
          <p:nvPr/>
        </p:nvSpPr>
        <p:spPr>
          <a:xfrm>
            <a:off x="4846320" y="713232"/>
            <a:ext cx="3977640" cy="457200"/>
          </a:xfrm>
          <a:prstGeom prst="rect">
            <a:avLst/>
          </a:prstGeom>
          <a:noFill/>
          <a:ln/>
        </p:spPr>
        <p:txBody>
          <a:bodyPr wrap="square" lIns="0" tIns="0" rIns="0" bIns="0" rtlCol="0" anchor="ctr"/>
          <a:lstStyle/>
          <a:p>
            <a:pPr marL="0" indent="0" algn="ctr">
              <a:buNone/>
            </a:pPr>
            <a:r>
              <a:rPr lang="en-US" sz="1300" b="1" dirty="0">
                <a:solidFill>
                  <a:srgbClr val="0A1626"/>
                </a:solidFill>
                <a:latin typeface="Calibri" pitchFamily="34" charset="0"/>
                <a:ea typeface="Calibri" pitchFamily="34" charset="-122"/>
                <a:cs typeface="Calibri" pitchFamily="34" charset="-120"/>
              </a:rPr>
              <a:t>News Search — What It Needs</a:t>
            </a:r>
            <a:endParaRPr lang="en-US" sz="1300" dirty="0"/>
          </a:p>
        </p:txBody>
      </p:sp>
      <p:sp>
        <p:nvSpPr>
          <p:cNvPr id="11" name="Shape 9"/>
          <p:cNvSpPr/>
          <p:nvPr/>
        </p:nvSpPr>
        <p:spPr>
          <a:xfrm>
            <a:off x="4846320" y="1188720"/>
            <a:ext cx="3977640" cy="2423160"/>
          </a:xfrm>
          <a:prstGeom prst="rect">
            <a:avLst/>
          </a:prstGeom>
          <a:solidFill>
            <a:srgbClr val="152338"/>
          </a:solidFill>
          <a:ln w="12700">
            <a:solidFill>
              <a:srgbClr val="152338"/>
            </a:solidFill>
            <a:prstDash val="solid"/>
          </a:ln>
        </p:spPr>
        <p:txBody>
          <a:bodyPr/>
          <a:lstStyle/>
          <a:p>
            <a:endParaRPr lang="en-IN"/>
          </a:p>
        </p:txBody>
      </p:sp>
      <p:sp>
        <p:nvSpPr>
          <p:cNvPr id="12" name="Text 10"/>
          <p:cNvSpPr/>
          <p:nvPr/>
        </p:nvSpPr>
        <p:spPr>
          <a:xfrm>
            <a:off x="4983480" y="1261872"/>
            <a:ext cx="3703320" cy="2286000"/>
          </a:xfrm>
          <a:prstGeom prst="rect">
            <a:avLst/>
          </a:prstGeom>
          <a:noFill/>
          <a:ln/>
        </p:spPr>
        <p:txBody>
          <a:bodyPr wrap="square" rtlCol="0" anchor="t"/>
          <a:lstStyle/>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Title matches should outweigh body matches</a:t>
            </a:r>
            <a:endParaRPr lang="en-US" sz="1300" dirty="0"/>
          </a:p>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Recent articles must outrank older ones</a:t>
            </a:r>
            <a:endParaRPr lang="en-US" sz="1300" dirty="0"/>
          </a:p>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Semantic understanding beyond exact keywords</a:t>
            </a:r>
            <a:endParaRPr lang="en-US" sz="1300" dirty="0"/>
          </a:p>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Trusted sources should signal credibility</a:t>
            </a:r>
            <a:endParaRPr lang="en-US" sz="1300" dirty="0"/>
          </a:p>
          <a:p>
            <a:pPr marL="342900" indent="-342900">
              <a:spcAft>
                <a:spcPts val="700"/>
              </a:spcAft>
              <a:buSzPct val="100000"/>
              <a:buChar char="•"/>
            </a:pPr>
            <a:r>
              <a:rPr lang="en-US" sz="1300" dirty="0">
                <a:solidFill>
                  <a:srgbClr val="B8D0E8"/>
                </a:solidFill>
                <a:latin typeface="Calibri" pitchFamily="34" charset="0"/>
                <a:ea typeface="Calibri" pitchFamily="34" charset="-122"/>
                <a:cs typeface="Calibri" pitchFamily="34" charset="-120"/>
              </a:rPr>
              <a:t>All four signals must work simultaneously</a:t>
            </a:r>
            <a:endParaRPr lang="en-US" sz="1300" dirty="0"/>
          </a:p>
        </p:txBody>
      </p:sp>
      <p:sp>
        <p:nvSpPr>
          <p:cNvPr id="13" name="Shape 11"/>
          <p:cNvSpPr/>
          <p:nvPr/>
        </p:nvSpPr>
        <p:spPr>
          <a:xfrm>
            <a:off x="320040" y="3822192"/>
            <a:ext cx="8503920" cy="658368"/>
          </a:xfrm>
          <a:prstGeom prst="rect">
            <a:avLst/>
          </a:prstGeom>
          <a:solidFill>
            <a:srgbClr val="1C3052"/>
          </a:solidFill>
          <a:ln w="12700">
            <a:solidFill>
              <a:srgbClr val="1C3052"/>
            </a:solidFill>
            <a:prstDash val="solid"/>
          </a:ln>
        </p:spPr>
        <p:txBody>
          <a:bodyPr/>
          <a:lstStyle/>
          <a:p>
            <a:endParaRPr lang="en-IN"/>
          </a:p>
        </p:txBody>
      </p:sp>
      <p:sp>
        <p:nvSpPr>
          <p:cNvPr id="14" name="Shape 12"/>
          <p:cNvSpPr/>
          <p:nvPr/>
        </p:nvSpPr>
        <p:spPr>
          <a:xfrm>
            <a:off x="320040" y="3822192"/>
            <a:ext cx="64008" cy="658368"/>
          </a:xfrm>
          <a:prstGeom prst="rect">
            <a:avLst/>
          </a:prstGeom>
          <a:solidFill>
            <a:srgbClr val="F5A623"/>
          </a:solidFill>
          <a:ln w="12700">
            <a:solidFill>
              <a:srgbClr val="F5A623"/>
            </a:solidFill>
            <a:prstDash val="solid"/>
          </a:ln>
        </p:spPr>
        <p:txBody>
          <a:bodyPr/>
          <a:lstStyle/>
          <a:p>
            <a:endParaRPr lang="en-IN"/>
          </a:p>
        </p:txBody>
      </p:sp>
      <p:sp>
        <p:nvSpPr>
          <p:cNvPr id="15" name="Text 13"/>
          <p:cNvSpPr/>
          <p:nvPr/>
        </p:nvSpPr>
        <p:spPr>
          <a:xfrm>
            <a:off x="530352" y="3822192"/>
            <a:ext cx="8138160" cy="658368"/>
          </a:xfrm>
          <a:prstGeom prst="rect">
            <a:avLst/>
          </a:prstGeom>
          <a:noFill/>
          <a:ln/>
        </p:spPr>
        <p:txBody>
          <a:bodyPr wrap="square"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No existing model simultaneously handles all four signals for real-time news retrieval.</a:t>
            </a:r>
            <a:endParaRPr lang="en-US" sz="1300" dirty="0"/>
          </a:p>
          <a:p>
            <a:pPr marL="0" indent="0">
              <a:buNone/>
            </a:pPr>
            <a:r>
              <a:rPr lang="en-US" sz="1300" b="1" dirty="0">
                <a:solidFill>
                  <a:srgbClr val="F5A623"/>
                </a:solidFill>
                <a:latin typeface="Calibri" pitchFamily="34" charset="0"/>
                <a:ea typeface="Calibri" pitchFamily="34" charset="-122"/>
                <a:cs typeface="Calibri" pitchFamily="34" charset="-120"/>
              </a:rPr>
              <a:t>This gap directly motivates our hybrid design.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System Architecture — Three-Phase Pipeline</a:t>
            </a:r>
            <a:endParaRPr lang="en-US" sz="2100" dirty="0"/>
          </a:p>
        </p:txBody>
      </p:sp>
      <p:sp>
        <p:nvSpPr>
          <p:cNvPr id="5" name="Shape 3"/>
          <p:cNvSpPr/>
          <p:nvPr/>
        </p:nvSpPr>
        <p:spPr>
          <a:xfrm>
            <a:off x="320040" y="658368"/>
            <a:ext cx="8503920" cy="3246120"/>
          </a:xfrm>
          <a:prstGeom prst="rect">
            <a:avLst/>
          </a:prstGeom>
          <a:solidFill>
            <a:srgbClr val="152338"/>
          </a:solidFill>
          <a:ln w="12700">
            <a:solidFill>
              <a:srgbClr val="152338"/>
            </a:solidFill>
            <a:prstDash val="solid"/>
          </a:ln>
        </p:spPr>
        <p:txBody>
          <a:bodyPr/>
          <a:lstStyle/>
          <a:p>
            <a:endParaRPr lang="en-IN"/>
          </a:p>
        </p:txBody>
      </p:sp>
      <p:sp>
        <p:nvSpPr>
          <p:cNvPr id="6" name="Text 4"/>
          <p:cNvSpPr/>
          <p:nvPr/>
        </p:nvSpPr>
        <p:spPr>
          <a:xfrm>
            <a:off x="411480" y="731520"/>
            <a:ext cx="8321040" cy="3090672"/>
          </a:xfrm>
          <a:prstGeom prst="rect">
            <a:avLst/>
          </a:prstGeom>
          <a:noFill/>
          <a:ln/>
        </p:spPr>
        <p:txBody>
          <a:bodyPr wrap="square" rtlCol="0" anchor="ctr"/>
          <a:lstStyle/>
          <a:p>
            <a:pPr marL="0" indent="0" algn="ctr">
              <a:buNone/>
            </a:pPr>
            <a:r>
              <a:rPr lang="en-US" sz="1300" dirty="0">
                <a:solidFill>
                  <a:srgbClr val="4E6E8A"/>
                </a:solidFill>
                <a:latin typeface="Calibri" pitchFamily="34" charset="0"/>
                <a:ea typeface="Calibri" pitchFamily="34" charset="-122"/>
                <a:cs typeface="Calibri" pitchFamily="34" charset="-120"/>
              </a:rPr>
              <a:t>[Screenshot 1: Insert the full Architecture Diagram image here — fill this entire area]</a:t>
            </a:r>
            <a:endParaRPr lang="en-US" sz="1300" dirty="0"/>
          </a:p>
        </p:txBody>
      </p:sp>
      <p:sp>
        <p:nvSpPr>
          <p:cNvPr id="7" name="Shape 5"/>
          <p:cNvSpPr/>
          <p:nvPr/>
        </p:nvSpPr>
        <p:spPr>
          <a:xfrm>
            <a:off x="320040" y="4005072"/>
            <a:ext cx="2743200" cy="822960"/>
          </a:xfrm>
          <a:prstGeom prst="rect">
            <a:avLst/>
          </a:prstGeom>
          <a:solidFill>
            <a:srgbClr val="1C3052"/>
          </a:solidFill>
          <a:ln w="12700">
            <a:solidFill>
              <a:srgbClr val="1C3052"/>
            </a:solidFill>
            <a:prstDash val="solid"/>
          </a:ln>
        </p:spPr>
        <p:txBody>
          <a:bodyPr/>
          <a:lstStyle/>
          <a:p>
            <a:endParaRPr lang="en-IN"/>
          </a:p>
        </p:txBody>
      </p:sp>
      <p:sp>
        <p:nvSpPr>
          <p:cNvPr id="8" name="Shape 6"/>
          <p:cNvSpPr/>
          <p:nvPr/>
        </p:nvSpPr>
        <p:spPr>
          <a:xfrm>
            <a:off x="320040" y="4005072"/>
            <a:ext cx="64008" cy="822960"/>
          </a:xfrm>
          <a:prstGeom prst="rect">
            <a:avLst/>
          </a:prstGeom>
          <a:solidFill>
            <a:srgbClr val="4A9EFF"/>
          </a:solidFill>
          <a:ln w="12700">
            <a:solidFill>
              <a:srgbClr val="4A9EFF"/>
            </a:solidFill>
            <a:prstDash val="solid"/>
          </a:ln>
        </p:spPr>
        <p:txBody>
          <a:bodyPr/>
          <a:lstStyle/>
          <a:p>
            <a:endParaRPr lang="en-IN"/>
          </a:p>
        </p:txBody>
      </p:sp>
      <p:sp>
        <p:nvSpPr>
          <p:cNvPr id="9" name="Text 7"/>
          <p:cNvSpPr/>
          <p:nvPr/>
        </p:nvSpPr>
        <p:spPr>
          <a:xfrm>
            <a:off x="457200" y="4023360"/>
            <a:ext cx="2542032" cy="320040"/>
          </a:xfrm>
          <a:prstGeom prst="rect">
            <a:avLst/>
          </a:prstGeom>
          <a:noFill/>
          <a:ln/>
        </p:spPr>
        <p:txBody>
          <a:bodyPr wrap="square" lIns="0" tIns="0" rIns="0" bIns="0" rtlCol="0" anchor="ctr"/>
          <a:lstStyle/>
          <a:p>
            <a:pPr marL="0" indent="0">
              <a:buNone/>
            </a:pPr>
            <a:r>
              <a:rPr lang="en-US" sz="1100" b="1" dirty="0">
                <a:solidFill>
                  <a:srgbClr val="4A9EFF"/>
                </a:solidFill>
                <a:latin typeface="Calibri" pitchFamily="34" charset="0"/>
                <a:ea typeface="Calibri" pitchFamily="34" charset="-122"/>
                <a:cs typeface="Calibri" pitchFamily="34" charset="-120"/>
              </a:rPr>
              <a:t>Phase 1 — Ingestion &amp; Indexing</a:t>
            </a:r>
            <a:endParaRPr lang="en-US" sz="1100" dirty="0"/>
          </a:p>
        </p:txBody>
      </p:sp>
      <p:sp>
        <p:nvSpPr>
          <p:cNvPr id="10" name="Text 8"/>
          <p:cNvSpPr/>
          <p:nvPr/>
        </p:nvSpPr>
        <p:spPr>
          <a:xfrm>
            <a:off x="457200" y="4334256"/>
            <a:ext cx="2542032" cy="347472"/>
          </a:xfrm>
          <a:prstGeom prst="rect">
            <a:avLst/>
          </a:prstGeom>
          <a:noFill/>
          <a:ln/>
        </p:spPr>
        <p:txBody>
          <a:bodyPr wrap="square" lIns="0" tIns="0" rIns="0" bIns="0" rtlCol="0" anchor="ctr"/>
          <a:lstStyle/>
          <a:p>
            <a:pPr marL="0" indent="0">
              <a:buNone/>
            </a:pPr>
            <a:r>
              <a:rPr lang="en-US" sz="1000" dirty="0">
                <a:solidFill>
                  <a:srgbClr val="B8D0E8"/>
                </a:solidFill>
                <a:latin typeface="Calibri" pitchFamily="34" charset="0"/>
                <a:ea typeface="Calibri" pitchFamily="34" charset="-122"/>
                <a:cs typeface="Calibri" pitchFamily="34" charset="-120"/>
              </a:rPr>
              <a:t>feedparser  →  NLTK preprocessing  →  BM25F Index</a:t>
            </a:r>
            <a:endParaRPr lang="en-US" sz="1000" dirty="0"/>
          </a:p>
        </p:txBody>
      </p:sp>
      <p:sp>
        <p:nvSpPr>
          <p:cNvPr id="11" name="Shape 9"/>
          <p:cNvSpPr/>
          <p:nvPr/>
        </p:nvSpPr>
        <p:spPr>
          <a:xfrm>
            <a:off x="3172968" y="4005072"/>
            <a:ext cx="2743200" cy="822960"/>
          </a:xfrm>
          <a:prstGeom prst="rect">
            <a:avLst/>
          </a:prstGeom>
          <a:solidFill>
            <a:srgbClr val="1C3052"/>
          </a:solidFill>
          <a:ln w="12700">
            <a:solidFill>
              <a:srgbClr val="1C3052"/>
            </a:solidFill>
            <a:prstDash val="solid"/>
          </a:ln>
        </p:spPr>
        <p:txBody>
          <a:bodyPr/>
          <a:lstStyle/>
          <a:p>
            <a:endParaRPr lang="en-IN"/>
          </a:p>
        </p:txBody>
      </p:sp>
      <p:sp>
        <p:nvSpPr>
          <p:cNvPr id="12" name="Shape 10"/>
          <p:cNvSpPr/>
          <p:nvPr/>
        </p:nvSpPr>
        <p:spPr>
          <a:xfrm>
            <a:off x="3172968" y="4005072"/>
            <a:ext cx="64008" cy="822960"/>
          </a:xfrm>
          <a:prstGeom prst="rect">
            <a:avLst/>
          </a:prstGeom>
          <a:solidFill>
            <a:srgbClr val="2EC4A0"/>
          </a:solidFill>
          <a:ln w="12700">
            <a:solidFill>
              <a:srgbClr val="2EC4A0"/>
            </a:solidFill>
            <a:prstDash val="solid"/>
          </a:ln>
        </p:spPr>
        <p:txBody>
          <a:bodyPr/>
          <a:lstStyle/>
          <a:p>
            <a:endParaRPr lang="en-IN"/>
          </a:p>
        </p:txBody>
      </p:sp>
      <p:sp>
        <p:nvSpPr>
          <p:cNvPr id="13" name="Text 11"/>
          <p:cNvSpPr/>
          <p:nvPr/>
        </p:nvSpPr>
        <p:spPr>
          <a:xfrm>
            <a:off x="3310128" y="4023360"/>
            <a:ext cx="2542032" cy="320040"/>
          </a:xfrm>
          <a:prstGeom prst="rect">
            <a:avLst/>
          </a:prstGeom>
          <a:noFill/>
          <a:ln/>
        </p:spPr>
        <p:txBody>
          <a:bodyPr wrap="square" lIns="0" tIns="0" rIns="0" bIns="0" rtlCol="0" anchor="ctr"/>
          <a:lstStyle/>
          <a:p>
            <a:pPr marL="0" indent="0">
              <a:buNone/>
            </a:pPr>
            <a:r>
              <a:rPr lang="en-US" sz="1100" b="1" dirty="0">
                <a:solidFill>
                  <a:srgbClr val="2EC4A0"/>
                </a:solidFill>
                <a:latin typeface="Calibri" pitchFamily="34" charset="0"/>
                <a:ea typeface="Calibri" pitchFamily="34" charset="-122"/>
                <a:cs typeface="Calibri" pitchFamily="34" charset="-120"/>
              </a:rPr>
              <a:t>Phase 2 — Two-Stage Ranking</a:t>
            </a:r>
            <a:endParaRPr lang="en-US" sz="1100" dirty="0"/>
          </a:p>
        </p:txBody>
      </p:sp>
      <p:sp>
        <p:nvSpPr>
          <p:cNvPr id="14" name="Text 12"/>
          <p:cNvSpPr/>
          <p:nvPr/>
        </p:nvSpPr>
        <p:spPr>
          <a:xfrm>
            <a:off x="3310128" y="4334256"/>
            <a:ext cx="2542032" cy="347472"/>
          </a:xfrm>
          <a:prstGeom prst="rect">
            <a:avLst/>
          </a:prstGeom>
          <a:noFill/>
          <a:ln/>
        </p:spPr>
        <p:txBody>
          <a:bodyPr wrap="square" lIns="0" tIns="0" rIns="0" bIns="0" rtlCol="0" anchor="ctr"/>
          <a:lstStyle/>
          <a:p>
            <a:pPr marL="0" indent="0">
              <a:buNone/>
            </a:pPr>
            <a:r>
              <a:rPr lang="en-US" sz="1000" dirty="0">
                <a:solidFill>
                  <a:srgbClr val="B8D0E8"/>
                </a:solidFill>
                <a:latin typeface="Calibri" pitchFamily="34" charset="0"/>
                <a:ea typeface="Calibri" pitchFamily="34" charset="-122"/>
                <a:cs typeface="Calibri" pitchFamily="34" charset="-120"/>
              </a:rPr>
              <a:t>BM25F top 100  →  BERT re-rank  →  Temporal + Authority</a:t>
            </a:r>
            <a:endParaRPr lang="en-US" sz="1000" dirty="0"/>
          </a:p>
        </p:txBody>
      </p:sp>
      <p:sp>
        <p:nvSpPr>
          <p:cNvPr id="15" name="Shape 13"/>
          <p:cNvSpPr/>
          <p:nvPr/>
        </p:nvSpPr>
        <p:spPr>
          <a:xfrm>
            <a:off x="6025896" y="4005072"/>
            <a:ext cx="2743200" cy="822960"/>
          </a:xfrm>
          <a:prstGeom prst="rect">
            <a:avLst/>
          </a:prstGeom>
          <a:solidFill>
            <a:srgbClr val="1C3052"/>
          </a:solidFill>
          <a:ln w="12700">
            <a:solidFill>
              <a:srgbClr val="1C3052"/>
            </a:solidFill>
            <a:prstDash val="solid"/>
          </a:ln>
        </p:spPr>
        <p:txBody>
          <a:bodyPr/>
          <a:lstStyle/>
          <a:p>
            <a:endParaRPr lang="en-IN"/>
          </a:p>
        </p:txBody>
      </p:sp>
      <p:sp>
        <p:nvSpPr>
          <p:cNvPr id="16" name="Shape 14"/>
          <p:cNvSpPr/>
          <p:nvPr/>
        </p:nvSpPr>
        <p:spPr>
          <a:xfrm>
            <a:off x="6025896" y="4005072"/>
            <a:ext cx="64008" cy="822960"/>
          </a:xfrm>
          <a:prstGeom prst="rect">
            <a:avLst/>
          </a:prstGeom>
          <a:solidFill>
            <a:srgbClr val="F5A623"/>
          </a:solidFill>
          <a:ln w="12700">
            <a:solidFill>
              <a:srgbClr val="F5A623"/>
            </a:solidFill>
            <a:prstDash val="solid"/>
          </a:ln>
        </p:spPr>
        <p:txBody>
          <a:bodyPr/>
          <a:lstStyle/>
          <a:p>
            <a:endParaRPr lang="en-IN"/>
          </a:p>
        </p:txBody>
      </p:sp>
      <p:sp>
        <p:nvSpPr>
          <p:cNvPr id="17" name="Text 15"/>
          <p:cNvSpPr/>
          <p:nvPr/>
        </p:nvSpPr>
        <p:spPr>
          <a:xfrm>
            <a:off x="6163056" y="4023360"/>
            <a:ext cx="2542032" cy="320040"/>
          </a:xfrm>
          <a:prstGeom prst="rect">
            <a:avLst/>
          </a:prstGeom>
          <a:noFill/>
          <a:ln/>
        </p:spPr>
        <p:txBody>
          <a:bodyPr wrap="square" lIns="0" tIns="0" rIns="0" bIns="0" rtlCol="0" anchor="ctr"/>
          <a:lstStyle/>
          <a:p>
            <a:pPr marL="0" indent="0">
              <a:buNone/>
            </a:pPr>
            <a:r>
              <a:rPr lang="en-US" sz="1100" b="1" dirty="0">
                <a:solidFill>
                  <a:srgbClr val="F5A623"/>
                </a:solidFill>
                <a:latin typeface="Calibri" pitchFamily="34" charset="0"/>
                <a:ea typeface="Calibri" pitchFamily="34" charset="-122"/>
                <a:cs typeface="Calibri" pitchFamily="34" charset="-120"/>
              </a:rPr>
              <a:t>Phase 3 — Result Display</a:t>
            </a:r>
            <a:endParaRPr lang="en-US" sz="1100" dirty="0"/>
          </a:p>
        </p:txBody>
      </p:sp>
      <p:sp>
        <p:nvSpPr>
          <p:cNvPr id="18" name="Text 16"/>
          <p:cNvSpPr/>
          <p:nvPr/>
        </p:nvSpPr>
        <p:spPr>
          <a:xfrm>
            <a:off x="6163056" y="4334256"/>
            <a:ext cx="2542032" cy="347472"/>
          </a:xfrm>
          <a:prstGeom prst="rect">
            <a:avLst/>
          </a:prstGeom>
          <a:noFill/>
          <a:ln/>
        </p:spPr>
        <p:txBody>
          <a:bodyPr wrap="square" lIns="0" tIns="0" rIns="0" bIns="0" rtlCol="0" anchor="ctr"/>
          <a:lstStyle/>
          <a:p>
            <a:pPr marL="0" indent="0">
              <a:buNone/>
            </a:pPr>
            <a:r>
              <a:rPr lang="en-US" sz="1000" dirty="0">
                <a:solidFill>
                  <a:srgbClr val="B8D0E8"/>
                </a:solidFill>
                <a:latin typeface="Calibri" pitchFamily="34" charset="0"/>
                <a:ea typeface="Calibri" pitchFamily="34" charset="-122"/>
                <a:cs typeface="Calibri" pitchFamily="34" charset="-120"/>
              </a:rPr>
              <a:t>Streamlit GUI  —  ranked results + collapsible score breakdown</a:t>
            </a:r>
            <a:endParaRPr lang="en-US" sz="1000" dirty="0"/>
          </a:p>
        </p:txBody>
      </p:sp>
      <p:sp>
        <p:nvSpPr>
          <p:cNvPr id="19" name="Text 17"/>
          <p:cNvSpPr/>
          <p:nvPr/>
        </p:nvSpPr>
        <p:spPr>
          <a:xfrm>
            <a:off x="320040" y="4892040"/>
            <a:ext cx="8503920" cy="182880"/>
          </a:xfrm>
          <a:prstGeom prst="rect">
            <a:avLst/>
          </a:prstGeom>
          <a:noFill/>
          <a:ln/>
        </p:spPr>
        <p:txBody>
          <a:bodyPr wrap="square" rtlCol="0" anchor="ctr"/>
          <a:lstStyle/>
          <a:p>
            <a:pPr marL="0" indent="0" algn="r">
              <a:buNone/>
            </a:pPr>
            <a:r>
              <a:rPr lang="en-US" sz="900" dirty="0">
                <a:solidFill>
                  <a:srgbClr val="4E6E8A"/>
                </a:solidFill>
                <a:latin typeface="Calibri" pitchFamily="34" charset="0"/>
                <a:ea typeface="Calibri" pitchFamily="34" charset="-122"/>
                <a:cs typeface="Calibri" pitchFamily="34" charset="-120"/>
              </a:rPr>
              <a:t>Python 3.13  ·  Anaconda  ·  Streamlit</a:t>
            </a:r>
            <a:endParaRPr lang="en-US" sz="900" dirty="0"/>
          </a:p>
        </p:txBody>
      </p:sp>
      <p:pic>
        <p:nvPicPr>
          <p:cNvPr id="23" name="Picture 22">
            <a:extLst>
              <a:ext uri="{FF2B5EF4-FFF2-40B4-BE49-F238E27FC236}">
                <a16:creationId xmlns:a16="http://schemas.microsoft.com/office/drawing/2014/main" id="{6C290BAD-3B3D-2D74-E132-811A850415FF}"/>
              </a:ext>
            </a:extLst>
          </p:cNvPr>
          <p:cNvPicPr>
            <a:picLocks noChangeAspect="1"/>
          </p:cNvPicPr>
          <p:nvPr/>
        </p:nvPicPr>
        <p:blipFill>
          <a:blip r:embed="rId3"/>
          <a:srcRect t="8739"/>
          <a:stretch>
            <a:fillRect/>
          </a:stretch>
        </p:blipFill>
        <p:spPr>
          <a:xfrm>
            <a:off x="1165121" y="658367"/>
            <a:ext cx="6492241" cy="325956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Corpus &amp; Data</a:t>
            </a:r>
            <a:endParaRPr lang="en-US" sz="2100" dirty="0"/>
          </a:p>
        </p:txBody>
      </p:sp>
      <p:sp>
        <p:nvSpPr>
          <p:cNvPr id="5" name="Shape 3"/>
          <p:cNvSpPr/>
          <p:nvPr/>
        </p:nvSpPr>
        <p:spPr>
          <a:xfrm>
            <a:off x="365760" y="676656"/>
            <a:ext cx="1920240" cy="1389888"/>
          </a:xfrm>
          <a:prstGeom prst="rect">
            <a:avLst/>
          </a:prstGeom>
          <a:solidFill>
            <a:srgbClr val="1C3052"/>
          </a:solidFill>
          <a:ln w="12700">
            <a:solidFill>
              <a:srgbClr val="1C3052"/>
            </a:solidFill>
            <a:prstDash val="solid"/>
          </a:ln>
        </p:spPr>
        <p:txBody>
          <a:bodyPr/>
          <a:lstStyle/>
          <a:p>
            <a:endParaRPr lang="en-IN"/>
          </a:p>
        </p:txBody>
      </p:sp>
      <p:sp>
        <p:nvSpPr>
          <p:cNvPr id="6" name="Shape 4"/>
          <p:cNvSpPr/>
          <p:nvPr/>
        </p:nvSpPr>
        <p:spPr>
          <a:xfrm>
            <a:off x="365760" y="676656"/>
            <a:ext cx="1920240" cy="64008"/>
          </a:xfrm>
          <a:prstGeom prst="rect">
            <a:avLst/>
          </a:prstGeom>
          <a:solidFill>
            <a:srgbClr val="4A9EFF"/>
          </a:solidFill>
          <a:ln w="12700">
            <a:solidFill>
              <a:srgbClr val="4A9EFF"/>
            </a:solidFill>
            <a:prstDash val="solid"/>
          </a:ln>
        </p:spPr>
        <p:txBody>
          <a:bodyPr/>
          <a:lstStyle/>
          <a:p>
            <a:endParaRPr lang="en-IN"/>
          </a:p>
        </p:txBody>
      </p:sp>
      <p:sp>
        <p:nvSpPr>
          <p:cNvPr id="7" name="Text 5"/>
          <p:cNvSpPr/>
          <p:nvPr/>
        </p:nvSpPr>
        <p:spPr>
          <a:xfrm>
            <a:off x="365760" y="758952"/>
            <a:ext cx="1920240" cy="621792"/>
          </a:xfrm>
          <a:prstGeom prst="rect">
            <a:avLst/>
          </a:prstGeom>
          <a:noFill/>
          <a:ln/>
        </p:spPr>
        <p:txBody>
          <a:bodyPr wrap="square" rtlCol="0" anchor="ctr"/>
          <a:lstStyle/>
          <a:p>
            <a:pPr marL="0" indent="0" algn="ctr">
              <a:buNone/>
            </a:pPr>
            <a:r>
              <a:rPr lang="en-US" sz="2600" b="1" dirty="0">
                <a:solidFill>
                  <a:srgbClr val="4A9EFF"/>
                </a:solidFill>
                <a:latin typeface="Calibri" pitchFamily="34" charset="0"/>
                <a:ea typeface="Calibri" pitchFamily="34" charset="-122"/>
                <a:cs typeface="Calibri" pitchFamily="34" charset="-120"/>
              </a:rPr>
              <a:t>30</a:t>
            </a:r>
            <a:endParaRPr lang="en-US" sz="2600" dirty="0"/>
          </a:p>
        </p:txBody>
      </p:sp>
      <p:sp>
        <p:nvSpPr>
          <p:cNvPr id="8" name="Text 6"/>
          <p:cNvSpPr/>
          <p:nvPr/>
        </p:nvSpPr>
        <p:spPr>
          <a:xfrm>
            <a:off x="365760" y="1371600"/>
            <a:ext cx="192024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Total Articles</a:t>
            </a:r>
            <a:endParaRPr lang="en-US" sz="1100" dirty="0"/>
          </a:p>
        </p:txBody>
      </p:sp>
      <p:sp>
        <p:nvSpPr>
          <p:cNvPr id="9" name="Text 7"/>
          <p:cNvSpPr/>
          <p:nvPr/>
        </p:nvSpPr>
        <p:spPr>
          <a:xfrm>
            <a:off x="365760" y="1645920"/>
            <a:ext cx="1920240" cy="228600"/>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Full corpus size</a:t>
            </a:r>
            <a:endParaRPr lang="en-US" sz="900" dirty="0"/>
          </a:p>
        </p:txBody>
      </p:sp>
      <p:sp>
        <p:nvSpPr>
          <p:cNvPr id="10" name="Shape 8"/>
          <p:cNvSpPr/>
          <p:nvPr/>
        </p:nvSpPr>
        <p:spPr>
          <a:xfrm>
            <a:off x="2491740" y="676656"/>
            <a:ext cx="1920240" cy="1389888"/>
          </a:xfrm>
          <a:prstGeom prst="rect">
            <a:avLst/>
          </a:prstGeom>
          <a:solidFill>
            <a:srgbClr val="1C3052"/>
          </a:solidFill>
          <a:ln w="12700">
            <a:solidFill>
              <a:srgbClr val="1C3052"/>
            </a:solidFill>
            <a:prstDash val="solid"/>
          </a:ln>
        </p:spPr>
        <p:txBody>
          <a:bodyPr/>
          <a:lstStyle/>
          <a:p>
            <a:endParaRPr lang="en-IN"/>
          </a:p>
        </p:txBody>
      </p:sp>
      <p:sp>
        <p:nvSpPr>
          <p:cNvPr id="11" name="Shape 9"/>
          <p:cNvSpPr/>
          <p:nvPr/>
        </p:nvSpPr>
        <p:spPr>
          <a:xfrm>
            <a:off x="2491740" y="676656"/>
            <a:ext cx="1920240" cy="64008"/>
          </a:xfrm>
          <a:prstGeom prst="rect">
            <a:avLst/>
          </a:prstGeom>
          <a:solidFill>
            <a:srgbClr val="2EC4A0"/>
          </a:solidFill>
          <a:ln w="12700">
            <a:solidFill>
              <a:srgbClr val="2EC4A0"/>
            </a:solidFill>
            <a:prstDash val="solid"/>
          </a:ln>
        </p:spPr>
        <p:txBody>
          <a:bodyPr/>
          <a:lstStyle/>
          <a:p>
            <a:endParaRPr lang="en-IN"/>
          </a:p>
        </p:txBody>
      </p:sp>
      <p:sp>
        <p:nvSpPr>
          <p:cNvPr id="12" name="Text 10"/>
          <p:cNvSpPr/>
          <p:nvPr/>
        </p:nvSpPr>
        <p:spPr>
          <a:xfrm>
            <a:off x="2491740" y="758952"/>
            <a:ext cx="1920240" cy="621792"/>
          </a:xfrm>
          <a:prstGeom prst="rect">
            <a:avLst/>
          </a:prstGeom>
          <a:noFill/>
          <a:ln/>
        </p:spPr>
        <p:txBody>
          <a:bodyPr wrap="square" rtlCol="0" anchor="ctr"/>
          <a:lstStyle/>
          <a:p>
            <a:pPr marL="0" indent="0" algn="ctr">
              <a:buNone/>
            </a:pPr>
            <a:r>
              <a:rPr lang="en-US" sz="2600" b="1" dirty="0">
                <a:solidFill>
                  <a:srgbClr val="2EC4A0"/>
                </a:solidFill>
                <a:latin typeface="Calibri" pitchFamily="34" charset="0"/>
                <a:ea typeface="Calibri" pitchFamily="34" charset="-122"/>
                <a:cs typeface="Calibri" pitchFamily="34" charset="-120"/>
              </a:rPr>
              <a:t>15 / 15</a:t>
            </a:r>
            <a:endParaRPr lang="en-US" sz="2600" dirty="0"/>
          </a:p>
        </p:txBody>
      </p:sp>
      <p:sp>
        <p:nvSpPr>
          <p:cNvPr id="13" name="Text 11"/>
          <p:cNvSpPr/>
          <p:nvPr/>
        </p:nvSpPr>
        <p:spPr>
          <a:xfrm>
            <a:off x="2491740" y="1371600"/>
            <a:ext cx="192024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BBC / NYT</a:t>
            </a:r>
            <a:endParaRPr lang="en-US" sz="1100" dirty="0"/>
          </a:p>
        </p:txBody>
      </p:sp>
      <p:sp>
        <p:nvSpPr>
          <p:cNvPr id="14" name="Text 12"/>
          <p:cNvSpPr/>
          <p:nvPr/>
        </p:nvSpPr>
        <p:spPr>
          <a:xfrm>
            <a:off x="2491740" y="1645920"/>
            <a:ext cx="1920240" cy="228600"/>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Balanced split</a:t>
            </a:r>
            <a:endParaRPr lang="en-US" sz="900" dirty="0"/>
          </a:p>
        </p:txBody>
      </p:sp>
      <p:sp>
        <p:nvSpPr>
          <p:cNvPr id="15" name="Shape 13"/>
          <p:cNvSpPr/>
          <p:nvPr/>
        </p:nvSpPr>
        <p:spPr>
          <a:xfrm>
            <a:off x="4617720" y="676656"/>
            <a:ext cx="1920240" cy="1389888"/>
          </a:xfrm>
          <a:prstGeom prst="rect">
            <a:avLst/>
          </a:prstGeom>
          <a:solidFill>
            <a:srgbClr val="1C3052"/>
          </a:solidFill>
          <a:ln w="12700">
            <a:solidFill>
              <a:srgbClr val="1C3052"/>
            </a:solidFill>
            <a:prstDash val="solid"/>
          </a:ln>
        </p:spPr>
        <p:txBody>
          <a:bodyPr/>
          <a:lstStyle/>
          <a:p>
            <a:endParaRPr lang="en-IN"/>
          </a:p>
        </p:txBody>
      </p:sp>
      <p:sp>
        <p:nvSpPr>
          <p:cNvPr id="16" name="Shape 14"/>
          <p:cNvSpPr/>
          <p:nvPr/>
        </p:nvSpPr>
        <p:spPr>
          <a:xfrm>
            <a:off x="4617720" y="676656"/>
            <a:ext cx="1920240" cy="64008"/>
          </a:xfrm>
          <a:prstGeom prst="rect">
            <a:avLst/>
          </a:prstGeom>
          <a:solidFill>
            <a:srgbClr val="F5A623"/>
          </a:solidFill>
          <a:ln w="12700">
            <a:solidFill>
              <a:srgbClr val="F5A623"/>
            </a:solidFill>
            <a:prstDash val="solid"/>
          </a:ln>
        </p:spPr>
        <p:txBody>
          <a:bodyPr/>
          <a:lstStyle/>
          <a:p>
            <a:endParaRPr lang="en-IN"/>
          </a:p>
        </p:txBody>
      </p:sp>
      <p:sp>
        <p:nvSpPr>
          <p:cNvPr id="17" name="Text 15"/>
          <p:cNvSpPr/>
          <p:nvPr/>
        </p:nvSpPr>
        <p:spPr>
          <a:xfrm>
            <a:off x="4617720" y="758952"/>
            <a:ext cx="1920240" cy="621792"/>
          </a:xfrm>
          <a:prstGeom prst="rect">
            <a:avLst/>
          </a:prstGeom>
          <a:noFill/>
          <a:ln/>
        </p:spPr>
        <p:txBody>
          <a:bodyPr wrap="square" rtlCol="0" anchor="ctr"/>
          <a:lstStyle/>
          <a:p>
            <a:pPr marL="0" indent="0" algn="ctr">
              <a:buNone/>
            </a:pPr>
            <a:r>
              <a:rPr lang="en-US" sz="2600" b="1" dirty="0">
                <a:solidFill>
                  <a:srgbClr val="F5A623"/>
                </a:solidFill>
                <a:latin typeface="Calibri" pitchFamily="34" charset="0"/>
                <a:ea typeface="Calibri" pitchFamily="34" charset="-122"/>
                <a:cs typeface="Calibri" pitchFamily="34" charset="-120"/>
              </a:rPr>
              <a:t>2 days</a:t>
            </a:r>
            <a:endParaRPr lang="en-US" sz="2600" dirty="0"/>
          </a:p>
        </p:txBody>
      </p:sp>
      <p:sp>
        <p:nvSpPr>
          <p:cNvPr id="18" name="Text 16"/>
          <p:cNvSpPr/>
          <p:nvPr/>
        </p:nvSpPr>
        <p:spPr>
          <a:xfrm>
            <a:off x="4617720" y="1371600"/>
            <a:ext cx="192024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Date Range</a:t>
            </a:r>
            <a:endParaRPr lang="en-US" sz="1100" dirty="0"/>
          </a:p>
        </p:txBody>
      </p:sp>
      <p:sp>
        <p:nvSpPr>
          <p:cNvPr id="19" name="Text 17"/>
          <p:cNvSpPr/>
          <p:nvPr/>
        </p:nvSpPr>
        <p:spPr>
          <a:xfrm>
            <a:off x="4617720" y="1645920"/>
            <a:ext cx="1920240" cy="228600"/>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Mar 20–22, 2026</a:t>
            </a:r>
            <a:endParaRPr lang="en-US" sz="900" dirty="0"/>
          </a:p>
        </p:txBody>
      </p:sp>
      <p:sp>
        <p:nvSpPr>
          <p:cNvPr id="20" name="Shape 18"/>
          <p:cNvSpPr/>
          <p:nvPr/>
        </p:nvSpPr>
        <p:spPr>
          <a:xfrm>
            <a:off x="6743700" y="676656"/>
            <a:ext cx="1920240" cy="1389888"/>
          </a:xfrm>
          <a:prstGeom prst="rect">
            <a:avLst/>
          </a:prstGeom>
          <a:solidFill>
            <a:srgbClr val="1C3052"/>
          </a:solidFill>
          <a:ln w="12700">
            <a:solidFill>
              <a:srgbClr val="1C3052"/>
            </a:solidFill>
            <a:prstDash val="solid"/>
          </a:ln>
        </p:spPr>
        <p:txBody>
          <a:bodyPr/>
          <a:lstStyle/>
          <a:p>
            <a:endParaRPr lang="en-IN"/>
          </a:p>
        </p:txBody>
      </p:sp>
      <p:sp>
        <p:nvSpPr>
          <p:cNvPr id="21" name="Shape 19"/>
          <p:cNvSpPr/>
          <p:nvPr/>
        </p:nvSpPr>
        <p:spPr>
          <a:xfrm>
            <a:off x="6743700" y="676656"/>
            <a:ext cx="1920240" cy="64008"/>
          </a:xfrm>
          <a:prstGeom prst="rect">
            <a:avLst/>
          </a:prstGeom>
          <a:solidFill>
            <a:srgbClr val="FF6464"/>
          </a:solidFill>
          <a:ln w="12700">
            <a:solidFill>
              <a:srgbClr val="FF6464"/>
            </a:solidFill>
            <a:prstDash val="solid"/>
          </a:ln>
        </p:spPr>
        <p:txBody>
          <a:bodyPr/>
          <a:lstStyle/>
          <a:p>
            <a:endParaRPr lang="en-IN"/>
          </a:p>
        </p:txBody>
      </p:sp>
      <p:sp>
        <p:nvSpPr>
          <p:cNvPr id="22" name="Text 20"/>
          <p:cNvSpPr/>
          <p:nvPr/>
        </p:nvSpPr>
        <p:spPr>
          <a:xfrm>
            <a:off x="6743700" y="758952"/>
            <a:ext cx="1920240" cy="621792"/>
          </a:xfrm>
          <a:prstGeom prst="rect">
            <a:avLst/>
          </a:prstGeom>
          <a:noFill/>
          <a:ln/>
        </p:spPr>
        <p:txBody>
          <a:bodyPr wrap="square" rtlCol="0" anchor="ctr"/>
          <a:lstStyle/>
          <a:p>
            <a:pPr marL="0" indent="0" algn="ctr">
              <a:buNone/>
            </a:pPr>
            <a:r>
              <a:rPr lang="en-US" sz="2600" b="1" dirty="0">
                <a:solidFill>
                  <a:srgbClr val="FF6464"/>
                </a:solidFill>
                <a:latin typeface="Calibri" pitchFamily="34" charset="0"/>
                <a:ea typeface="Calibri" pitchFamily="34" charset="-122"/>
                <a:cs typeface="Calibri" pitchFamily="34" charset="-120"/>
              </a:rPr>
              <a:t>7.3 / 12.4</a:t>
            </a:r>
            <a:endParaRPr lang="en-US" sz="2600" dirty="0"/>
          </a:p>
        </p:txBody>
      </p:sp>
      <p:sp>
        <p:nvSpPr>
          <p:cNvPr id="23" name="Text 21"/>
          <p:cNvSpPr/>
          <p:nvPr/>
        </p:nvSpPr>
        <p:spPr>
          <a:xfrm>
            <a:off x="6743700" y="1371600"/>
            <a:ext cx="192024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Avg Tokens</a:t>
            </a:r>
            <a:endParaRPr lang="en-US" sz="1100" dirty="0"/>
          </a:p>
        </p:txBody>
      </p:sp>
      <p:sp>
        <p:nvSpPr>
          <p:cNvPr id="24" name="Text 22"/>
          <p:cNvSpPr/>
          <p:nvPr/>
        </p:nvSpPr>
        <p:spPr>
          <a:xfrm>
            <a:off x="6743700" y="1645920"/>
            <a:ext cx="1920240" cy="228600"/>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Title / body</a:t>
            </a:r>
            <a:endParaRPr lang="en-US" sz="900" dirty="0"/>
          </a:p>
        </p:txBody>
      </p:sp>
      <p:sp>
        <p:nvSpPr>
          <p:cNvPr id="25" name="Text 23"/>
          <p:cNvSpPr/>
          <p:nvPr/>
        </p:nvSpPr>
        <p:spPr>
          <a:xfrm>
            <a:off x="365760" y="2212848"/>
            <a:ext cx="8412480" cy="301752"/>
          </a:xfrm>
          <a:prstGeom prst="rect">
            <a:avLst/>
          </a:prstGeom>
          <a:noFill/>
          <a:ln/>
        </p:spPr>
        <p:txBody>
          <a:bodyPr wrap="square" rtlCol="0" anchor="ctr"/>
          <a:lstStyle/>
          <a:p>
            <a:pPr marL="0" indent="0" algn="ctr">
              <a:buNone/>
            </a:pPr>
            <a:r>
              <a:rPr lang="en-US" sz="1200" dirty="0">
                <a:solidFill>
                  <a:srgbClr val="B8D0E8"/>
                </a:solidFill>
                <a:latin typeface="Calibri" pitchFamily="34" charset="0"/>
                <a:ea typeface="Calibri" pitchFamily="34" charset="-122"/>
                <a:cs typeface="Calibri" pitchFamily="34" charset="-120"/>
              </a:rPr>
              <a:t>Fields stored per article:   title  ·  body  ·  timestamp  ·  source  ·  URL</a:t>
            </a:r>
            <a:endParaRPr lang="en-US" sz="1200" dirty="0"/>
          </a:p>
        </p:txBody>
      </p:sp>
      <p:sp>
        <p:nvSpPr>
          <p:cNvPr id="26" name="Shape 24"/>
          <p:cNvSpPr/>
          <p:nvPr/>
        </p:nvSpPr>
        <p:spPr>
          <a:xfrm>
            <a:off x="365760" y="2606040"/>
            <a:ext cx="8412480" cy="1783080"/>
          </a:xfrm>
          <a:prstGeom prst="rect">
            <a:avLst/>
          </a:prstGeom>
          <a:solidFill>
            <a:srgbClr val="152338"/>
          </a:solidFill>
          <a:ln w="12700">
            <a:solidFill>
              <a:srgbClr val="152338"/>
            </a:solidFill>
            <a:prstDash val="solid"/>
          </a:ln>
        </p:spPr>
        <p:txBody>
          <a:bodyPr/>
          <a:lstStyle/>
          <a:p>
            <a:endParaRPr lang="en-IN"/>
          </a:p>
        </p:txBody>
      </p:sp>
      <p:sp>
        <p:nvSpPr>
          <p:cNvPr id="27" name="Text 25"/>
          <p:cNvSpPr/>
          <p:nvPr/>
        </p:nvSpPr>
        <p:spPr>
          <a:xfrm>
            <a:off x="457200" y="2651760"/>
            <a:ext cx="8229600" cy="1691640"/>
          </a:xfrm>
          <a:prstGeom prst="rect">
            <a:avLst/>
          </a:prstGeom>
          <a:noFill/>
          <a:ln/>
        </p:spPr>
        <p:txBody>
          <a:bodyPr wrap="square" rtlCol="0" anchor="ctr"/>
          <a:lstStyle/>
          <a:p>
            <a:pPr marL="0" indent="0" algn="ctr">
              <a:buNone/>
            </a:pPr>
            <a:endParaRPr lang="en-US" sz="1200" dirty="0"/>
          </a:p>
        </p:txBody>
      </p:sp>
      <p:sp>
        <p:nvSpPr>
          <p:cNvPr id="28" name="Text 26"/>
          <p:cNvSpPr/>
          <p:nvPr/>
        </p:nvSpPr>
        <p:spPr>
          <a:xfrm>
            <a:off x="365760" y="4526280"/>
            <a:ext cx="8412480" cy="384048"/>
          </a:xfrm>
          <a:prstGeom prst="rect">
            <a:avLst/>
          </a:prstGeom>
          <a:noFill/>
          <a:ln/>
        </p:spPr>
        <p:txBody>
          <a:bodyPr wrap="square" rtlCol="0" anchor="ctr"/>
          <a:lstStyle/>
          <a:p>
            <a:pPr marL="0" indent="0" algn="ctr">
              <a:buNone/>
            </a:pPr>
            <a:r>
              <a:rPr lang="en-US" sz="1000" i="1" dirty="0">
                <a:solidFill>
                  <a:srgbClr val="4E6E8A"/>
                </a:solidFill>
                <a:latin typeface="Calibri" pitchFamily="34" charset="0"/>
                <a:ea typeface="Calibri" pitchFamily="34" charset="-122"/>
                <a:cs typeface="Calibri" pitchFamily="34" charset="-120"/>
              </a:rPr>
              <a:t>Known limitation: self-constructed corpus with manual relevance judgements — a TREC benchmark would eliminate subjectivity.</a:t>
            </a:r>
            <a:endParaRPr lang="en-US" sz="1000" dirty="0"/>
          </a:p>
        </p:txBody>
      </p:sp>
      <p:pic>
        <p:nvPicPr>
          <p:cNvPr id="30" name="Picture 29">
            <a:extLst>
              <a:ext uri="{FF2B5EF4-FFF2-40B4-BE49-F238E27FC236}">
                <a16:creationId xmlns:a16="http://schemas.microsoft.com/office/drawing/2014/main" id="{D5E766C7-73B4-C04C-3A51-B5C867B73FF6}"/>
              </a:ext>
            </a:extLst>
          </p:cNvPr>
          <p:cNvPicPr>
            <a:picLocks noChangeAspect="1"/>
          </p:cNvPicPr>
          <p:nvPr/>
        </p:nvPicPr>
        <p:blipFill>
          <a:blip r:embed="rId3"/>
          <a:srcRect b="58991"/>
          <a:stretch>
            <a:fillRect/>
          </a:stretch>
        </p:blipFill>
        <p:spPr>
          <a:xfrm>
            <a:off x="537068" y="2594098"/>
            <a:ext cx="2202614" cy="1785193"/>
          </a:xfrm>
          <a:prstGeom prst="rect">
            <a:avLst/>
          </a:prstGeom>
        </p:spPr>
      </p:pic>
      <p:pic>
        <p:nvPicPr>
          <p:cNvPr id="31" name="Picture 30">
            <a:extLst>
              <a:ext uri="{FF2B5EF4-FFF2-40B4-BE49-F238E27FC236}">
                <a16:creationId xmlns:a16="http://schemas.microsoft.com/office/drawing/2014/main" id="{DF90E3A5-D9CB-DA55-E484-34C700C71F01}"/>
              </a:ext>
            </a:extLst>
          </p:cNvPr>
          <p:cNvPicPr>
            <a:picLocks noChangeAspect="1"/>
          </p:cNvPicPr>
          <p:nvPr/>
        </p:nvPicPr>
        <p:blipFill>
          <a:blip r:embed="rId3"/>
          <a:srcRect l="293" t="42370" r="12240" b="30786"/>
          <a:stretch>
            <a:fillRect/>
          </a:stretch>
        </p:blipFill>
        <p:spPr>
          <a:xfrm>
            <a:off x="3264555" y="2790714"/>
            <a:ext cx="2294849" cy="1391962"/>
          </a:xfrm>
          <a:prstGeom prst="rect">
            <a:avLst/>
          </a:prstGeom>
        </p:spPr>
      </p:pic>
      <p:pic>
        <p:nvPicPr>
          <p:cNvPr id="32" name="Picture 31">
            <a:extLst>
              <a:ext uri="{FF2B5EF4-FFF2-40B4-BE49-F238E27FC236}">
                <a16:creationId xmlns:a16="http://schemas.microsoft.com/office/drawing/2014/main" id="{E9AE9287-4ECF-FD76-11F2-1AC6219705EC}"/>
              </a:ext>
            </a:extLst>
          </p:cNvPr>
          <p:cNvPicPr>
            <a:picLocks noChangeAspect="1"/>
          </p:cNvPicPr>
          <p:nvPr/>
        </p:nvPicPr>
        <p:blipFill>
          <a:blip r:embed="rId3"/>
          <a:srcRect t="70576"/>
          <a:stretch>
            <a:fillRect/>
          </a:stretch>
        </p:blipFill>
        <p:spPr>
          <a:xfrm>
            <a:off x="6084277" y="2729980"/>
            <a:ext cx="2602523" cy="15134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Preprocessing Pipeline</a:t>
            </a:r>
            <a:endParaRPr lang="en-US" sz="2100" dirty="0"/>
          </a:p>
        </p:txBody>
      </p:sp>
      <p:sp>
        <p:nvSpPr>
          <p:cNvPr id="5" name="Shape 3"/>
          <p:cNvSpPr/>
          <p:nvPr/>
        </p:nvSpPr>
        <p:spPr>
          <a:xfrm>
            <a:off x="626364" y="749808"/>
            <a:ext cx="1417320" cy="749808"/>
          </a:xfrm>
          <a:prstGeom prst="rect">
            <a:avLst/>
          </a:prstGeom>
          <a:solidFill>
            <a:srgbClr val="1C3052"/>
          </a:solidFill>
          <a:ln w="12700">
            <a:solidFill>
              <a:srgbClr val="1C3052"/>
            </a:solidFill>
            <a:prstDash val="solid"/>
          </a:ln>
        </p:spPr>
        <p:txBody>
          <a:bodyPr/>
          <a:lstStyle/>
          <a:p>
            <a:endParaRPr lang="en-IN"/>
          </a:p>
        </p:txBody>
      </p:sp>
      <p:sp>
        <p:nvSpPr>
          <p:cNvPr id="6" name="Shape 4"/>
          <p:cNvSpPr/>
          <p:nvPr/>
        </p:nvSpPr>
        <p:spPr>
          <a:xfrm>
            <a:off x="626364" y="749808"/>
            <a:ext cx="1417320" cy="54864"/>
          </a:xfrm>
          <a:prstGeom prst="rect">
            <a:avLst/>
          </a:prstGeom>
          <a:solidFill>
            <a:srgbClr val="4E6E8A"/>
          </a:solidFill>
          <a:ln w="12700">
            <a:solidFill>
              <a:srgbClr val="4E6E8A"/>
            </a:solidFill>
            <a:prstDash val="solid"/>
          </a:ln>
        </p:spPr>
        <p:txBody>
          <a:bodyPr/>
          <a:lstStyle/>
          <a:p>
            <a:endParaRPr lang="en-IN"/>
          </a:p>
        </p:txBody>
      </p:sp>
      <p:sp>
        <p:nvSpPr>
          <p:cNvPr id="7" name="Text 5"/>
          <p:cNvSpPr/>
          <p:nvPr/>
        </p:nvSpPr>
        <p:spPr>
          <a:xfrm>
            <a:off x="626364" y="822960"/>
            <a:ext cx="14173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Raw Text</a:t>
            </a:r>
            <a:endParaRPr lang="en-US" sz="1200" dirty="0"/>
          </a:p>
        </p:txBody>
      </p:sp>
      <p:sp>
        <p:nvSpPr>
          <p:cNvPr id="8" name="Text 6"/>
          <p:cNvSpPr/>
          <p:nvPr/>
        </p:nvSpPr>
        <p:spPr>
          <a:xfrm>
            <a:off x="626364" y="1170432"/>
            <a:ext cx="1417320" cy="274320"/>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Original content</a:t>
            </a:r>
            <a:endParaRPr lang="en-US" sz="900" dirty="0"/>
          </a:p>
        </p:txBody>
      </p:sp>
      <p:sp>
        <p:nvSpPr>
          <p:cNvPr id="9" name="Text 7"/>
          <p:cNvSpPr/>
          <p:nvPr/>
        </p:nvSpPr>
        <p:spPr>
          <a:xfrm>
            <a:off x="2043684" y="822960"/>
            <a:ext cx="201168" cy="347472"/>
          </a:xfrm>
          <a:prstGeom prst="rect">
            <a:avLst/>
          </a:prstGeom>
          <a:noFill/>
          <a:ln/>
        </p:spPr>
        <p:txBody>
          <a:bodyPr wrap="square" rtlCol="0" anchor="ctr"/>
          <a:lstStyle/>
          <a:p>
            <a:pPr marL="0" indent="0" algn="ctr">
              <a:buNone/>
            </a:pPr>
            <a:r>
              <a:rPr lang="en-US" sz="1400" dirty="0">
                <a:solidFill>
                  <a:srgbClr val="4E6E8A"/>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244852" y="749808"/>
            <a:ext cx="1417320" cy="749808"/>
          </a:xfrm>
          <a:prstGeom prst="rect">
            <a:avLst/>
          </a:prstGeom>
          <a:solidFill>
            <a:srgbClr val="1C3052"/>
          </a:solidFill>
          <a:ln w="12700">
            <a:solidFill>
              <a:srgbClr val="1C3052"/>
            </a:solidFill>
            <a:prstDash val="solid"/>
          </a:ln>
        </p:spPr>
        <p:txBody>
          <a:bodyPr/>
          <a:lstStyle/>
          <a:p>
            <a:endParaRPr lang="en-IN"/>
          </a:p>
        </p:txBody>
      </p:sp>
      <p:sp>
        <p:nvSpPr>
          <p:cNvPr id="11" name="Shape 9"/>
          <p:cNvSpPr/>
          <p:nvPr/>
        </p:nvSpPr>
        <p:spPr>
          <a:xfrm>
            <a:off x="2244852" y="749808"/>
            <a:ext cx="1417320" cy="54864"/>
          </a:xfrm>
          <a:prstGeom prst="rect">
            <a:avLst/>
          </a:prstGeom>
          <a:solidFill>
            <a:srgbClr val="4A9EFF"/>
          </a:solidFill>
          <a:ln w="12700">
            <a:solidFill>
              <a:srgbClr val="4A9EFF"/>
            </a:solidFill>
            <a:prstDash val="solid"/>
          </a:ln>
        </p:spPr>
        <p:txBody>
          <a:bodyPr/>
          <a:lstStyle/>
          <a:p>
            <a:endParaRPr lang="en-IN"/>
          </a:p>
        </p:txBody>
      </p:sp>
      <p:sp>
        <p:nvSpPr>
          <p:cNvPr id="12" name="Text 10"/>
          <p:cNvSpPr/>
          <p:nvPr/>
        </p:nvSpPr>
        <p:spPr>
          <a:xfrm>
            <a:off x="2244852" y="822960"/>
            <a:ext cx="14173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Tokenise</a:t>
            </a:r>
            <a:endParaRPr lang="en-US" sz="1200" dirty="0"/>
          </a:p>
        </p:txBody>
      </p:sp>
      <p:sp>
        <p:nvSpPr>
          <p:cNvPr id="13" name="Text 11"/>
          <p:cNvSpPr/>
          <p:nvPr/>
        </p:nvSpPr>
        <p:spPr>
          <a:xfrm>
            <a:off x="2244852" y="1170432"/>
            <a:ext cx="1417320" cy="274320"/>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NLTK word_tokenize</a:t>
            </a:r>
            <a:endParaRPr lang="en-US" sz="900" dirty="0"/>
          </a:p>
        </p:txBody>
      </p:sp>
      <p:sp>
        <p:nvSpPr>
          <p:cNvPr id="14" name="Text 12"/>
          <p:cNvSpPr/>
          <p:nvPr/>
        </p:nvSpPr>
        <p:spPr>
          <a:xfrm>
            <a:off x="3662172" y="822960"/>
            <a:ext cx="201168" cy="347472"/>
          </a:xfrm>
          <a:prstGeom prst="rect">
            <a:avLst/>
          </a:prstGeom>
          <a:noFill/>
          <a:ln/>
        </p:spPr>
        <p:txBody>
          <a:bodyPr wrap="square" rtlCol="0" anchor="ctr"/>
          <a:lstStyle/>
          <a:p>
            <a:pPr marL="0" indent="0" algn="ctr">
              <a:buNone/>
            </a:pPr>
            <a:r>
              <a:rPr lang="en-US" sz="1400" dirty="0">
                <a:solidFill>
                  <a:srgbClr val="4E6E8A"/>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3863340" y="749808"/>
            <a:ext cx="1417320" cy="749808"/>
          </a:xfrm>
          <a:prstGeom prst="rect">
            <a:avLst/>
          </a:prstGeom>
          <a:solidFill>
            <a:srgbClr val="1C3052"/>
          </a:solidFill>
          <a:ln w="12700">
            <a:solidFill>
              <a:srgbClr val="1C3052"/>
            </a:solidFill>
            <a:prstDash val="solid"/>
          </a:ln>
        </p:spPr>
        <p:txBody>
          <a:bodyPr/>
          <a:lstStyle/>
          <a:p>
            <a:endParaRPr lang="en-IN"/>
          </a:p>
        </p:txBody>
      </p:sp>
      <p:sp>
        <p:nvSpPr>
          <p:cNvPr id="16" name="Shape 14"/>
          <p:cNvSpPr/>
          <p:nvPr/>
        </p:nvSpPr>
        <p:spPr>
          <a:xfrm>
            <a:off x="3863340" y="749808"/>
            <a:ext cx="1417320" cy="54864"/>
          </a:xfrm>
          <a:prstGeom prst="rect">
            <a:avLst/>
          </a:prstGeom>
          <a:solidFill>
            <a:srgbClr val="4A9EFF"/>
          </a:solidFill>
          <a:ln w="12700">
            <a:solidFill>
              <a:srgbClr val="4A9EFF"/>
            </a:solidFill>
            <a:prstDash val="solid"/>
          </a:ln>
        </p:spPr>
        <p:txBody>
          <a:bodyPr/>
          <a:lstStyle/>
          <a:p>
            <a:endParaRPr lang="en-IN"/>
          </a:p>
        </p:txBody>
      </p:sp>
      <p:sp>
        <p:nvSpPr>
          <p:cNvPr id="17" name="Text 15"/>
          <p:cNvSpPr/>
          <p:nvPr/>
        </p:nvSpPr>
        <p:spPr>
          <a:xfrm>
            <a:off x="3863340" y="822960"/>
            <a:ext cx="14173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Lowercase</a:t>
            </a:r>
            <a:endParaRPr lang="en-US" sz="1200" dirty="0"/>
          </a:p>
        </p:txBody>
      </p:sp>
      <p:sp>
        <p:nvSpPr>
          <p:cNvPr id="18" name="Text 16"/>
          <p:cNvSpPr/>
          <p:nvPr/>
        </p:nvSpPr>
        <p:spPr>
          <a:xfrm>
            <a:off x="3863340" y="1170432"/>
            <a:ext cx="1417320" cy="274320"/>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Uniform case</a:t>
            </a:r>
            <a:endParaRPr lang="en-US" sz="900" dirty="0"/>
          </a:p>
        </p:txBody>
      </p:sp>
      <p:sp>
        <p:nvSpPr>
          <p:cNvPr id="19" name="Text 17"/>
          <p:cNvSpPr/>
          <p:nvPr/>
        </p:nvSpPr>
        <p:spPr>
          <a:xfrm>
            <a:off x="5280660" y="822960"/>
            <a:ext cx="201168" cy="347472"/>
          </a:xfrm>
          <a:prstGeom prst="rect">
            <a:avLst/>
          </a:prstGeom>
          <a:noFill/>
          <a:ln/>
        </p:spPr>
        <p:txBody>
          <a:bodyPr wrap="square" rtlCol="0" anchor="ctr"/>
          <a:lstStyle/>
          <a:p>
            <a:pPr marL="0" indent="0" algn="ctr">
              <a:buNone/>
            </a:pPr>
            <a:r>
              <a:rPr lang="en-US" sz="1400" dirty="0">
                <a:solidFill>
                  <a:srgbClr val="4E6E8A"/>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5481828" y="749808"/>
            <a:ext cx="1417320" cy="749808"/>
          </a:xfrm>
          <a:prstGeom prst="rect">
            <a:avLst/>
          </a:prstGeom>
          <a:solidFill>
            <a:srgbClr val="1C3052"/>
          </a:solidFill>
          <a:ln w="12700">
            <a:solidFill>
              <a:srgbClr val="1C3052"/>
            </a:solidFill>
            <a:prstDash val="solid"/>
          </a:ln>
        </p:spPr>
        <p:txBody>
          <a:bodyPr/>
          <a:lstStyle/>
          <a:p>
            <a:endParaRPr lang="en-IN"/>
          </a:p>
        </p:txBody>
      </p:sp>
      <p:sp>
        <p:nvSpPr>
          <p:cNvPr id="21" name="Shape 19"/>
          <p:cNvSpPr/>
          <p:nvPr/>
        </p:nvSpPr>
        <p:spPr>
          <a:xfrm>
            <a:off x="5481828" y="749808"/>
            <a:ext cx="1417320" cy="54864"/>
          </a:xfrm>
          <a:prstGeom prst="rect">
            <a:avLst/>
          </a:prstGeom>
          <a:solidFill>
            <a:srgbClr val="4A9EFF"/>
          </a:solidFill>
          <a:ln w="12700">
            <a:solidFill>
              <a:srgbClr val="4A9EFF"/>
            </a:solidFill>
            <a:prstDash val="solid"/>
          </a:ln>
        </p:spPr>
        <p:txBody>
          <a:bodyPr/>
          <a:lstStyle/>
          <a:p>
            <a:endParaRPr lang="en-IN"/>
          </a:p>
        </p:txBody>
      </p:sp>
      <p:sp>
        <p:nvSpPr>
          <p:cNvPr id="22" name="Text 20"/>
          <p:cNvSpPr/>
          <p:nvPr/>
        </p:nvSpPr>
        <p:spPr>
          <a:xfrm>
            <a:off x="5481828" y="822960"/>
            <a:ext cx="14173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Stopwords</a:t>
            </a:r>
            <a:endParaRPr lang="en-US" sz="1200" dirty="0"/>
          </a:p>
        </p:txBody>
      </p:sp>
      <p:sp>
        <p:nvSpPr>
          <p:cNvPr id="23" name="Text 21"/>
          <p:cNvSpPr/>
          <p:nvPr/>
        </p:nvSpPr>
        <p:spPr>
          <a:xfrm>
            <a:off x="5481828" y="1170432"/>
            <a:ext cx="1417320" cy="274320"/>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180+ word list</a:t>
            </a:r>
            <a:endParaRPr lang="en-US" sz="900" dirty="0"/>
          </a:p>
        </p:txBody>
      </p:sp>
      <p:sp>
        <p:nvSpPr>
          <p:cNvPr id="24" name="Text 22"/>
          <p:cNvSpPr/>
          <p:nvPr/>
        </p:nvSpPr>
        <p:spPr>
          <a:xfrm>
            <a:off x="6899148" y="822960"/>
            <a:ext cx="201168" cy="347472"/>
          </a:xfrm>
          <a:prstGeom prst="rect">
            <a:avLst/>
          </a:prstGeom>
          <a:noFill/>
          <a:ln/>
        </p:spPr>
        <p:txBody>
          <a:bodyPr wrap="square" rtlCol="0" anchor="ctr"/>
          <a:lstStyle/>
          <a:p>
            <a:pPr marL="0" indent="0" algn="ctr">
              <a:buNone/>
            </a:pPr>
            <a:r>
              <a:rPr lang="en-US" sz="1400" dirty="0">
                <a:solidFill>
                  <a:srgbClr val="4E6E8A"/>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7100316" y="749808"/>
            <a:ext cx="1417320" cy="749808"/>
          </a:xfrm>
          <a:prstGeom prst="rect">
            <a:avLst/>
          </a:prstGeom>
          <a:solidFill>
            <a:srgbClr val="1C3052"/>
          </a:solidFill>
          <a:ln w="12700">
            <a:solidFill>
              <a:srgbClr val="1C3052"/>
            </a:solidFill>
            <a:prstDash val="solid"/>
          </a:ln>
        </p:spPr>
        <p:txBody>
          <a:bodyPr/>
          <a:lstStyle/>
          <a:p>
            <a:endParaRPr lang="en-IN"/>
          </a:p>
        </p:txBody>
      </p:sp>
      <p:sp>
        <p:nvSpPr>
          <p:cNvPr id="26" name="Shape 24"/>
          <p:cNvSpPr/>
          <p:nvPr/>
        </p:nvSpPr>
        <p:spPr>
          <a:xfrm>
            <a:off x="7100316" y="749808"/>
            <a:ext cx="1417320" cy="54864"/>
          </a:xfrm>
          <a:prstGeom prst="rect">
            <a:avLst/>
          </a:prstGeom>
          <a:solidFill>
            <a:srgbClr val="2EC4A0"/>
          </a:solidFill>
          <a:ln w="12700">
            <a:solidFill>
              <a:srgbClr val="2EC4A0"/>
            </a:solidFill>
            <a:prstDash val="solid"/>
          </a:ln>
        </p:spPr>
        <p:txBody>
          <a:bodyPr/>
          <a:lstStyle/>
          <a:p>
            <a:endParaRPr lang="en-IN"/>
          </a:p>
        </p:txBody>
      </p:sp>
      <p:sp>
        <p:nvSpPr>
          <p:cNvPr id="27" name="Text 25"/>
          <p:cNvSpPr/>
          <p:nvPr/>
        </p:nvSpPr>
        <p:spPr>
          <a:xfrm>
            <a:off x="7100316" y="822960"/>
            <a:ext cx="14173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Porter Stem</a:t>
            </a:r>
            <a:endParaRPr lang="en-US" sz="1200" dirty="0"/>
          </a:p>
        </p:txBody>
      </p:sp>
      <p:sp>
        <p:nvSpPr>
          <p:cNvPr id="28" name="Text 26"/>
          <p:cNvSpPr/>
          <p:nvPr/>
        </p:nvSpPr>
        <p:spPr>
          <a:xfrm>
            <a:off x="7100316" y="1170432"/>
            <a:ext cx="1417320" cy="274320"/>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Root form</a:t>
            </a:r>
            <a:endParaRPr lang="en-US" sz="900" dirty="0"/>
          </a:p>
        </p:txBody>
      </p:sp>
      <p:sp>
        <p:nvSpPr>
          <p:cNvPr id="29" name="Text 27"/>
          <p:cNvSpPr/>
          <p:nvPr/>
        </p:nvSpPr>
        <p:spPr>
          <a:xfrm>
            <a:off x="365760" y="1664208"/>
            <a:ext cx="8412480" cy="274320"/>
          </a:xfrm>
          <a:prstGeom prst="rect">
            <a:avLst/>
          </a:prstGeom>
          <a:noFill/>
          <a:ln/>
        </p:spPr>
        <p:txBody>
          <a:bodyPr wrap="square" rtlCol="0" anchor="ctr"/>
          <a:lstStyle/>
          <a:p>
            <a:pPr marL="0" indent="0" algn="ctr">
              <a:buNone/>
            </a:pPr>
            <a:r>
              <a:rPr lang="en-US" sz="1100" i="1" dirty="0">
                <a:solidFill>
                  <a:srgbClr val="2EC4A0"/>
                </a:solidFill>
                <a:latin typeface="Calibri" pitchFamily="34" charset="0"/>
                <a:ea typeface="Calibri" pitchFamily="34" charset="-122"/>
                <a:cs typeface="Calibri" pitchFamily="34" charset="-120"/>
              </a:rPr>
              <a:t>Same pipeline applied to queries at search time — ensures vocabulary compatibility with the index.</a:t>
            </a:r>
            <a:endParaRPr lang="en-US" sz="1100" dirty="0"/>
          </a:p>
        </p:txBody>
      </p:sp>
      <p:sp>
        <p:nvSpPr>
          <p:cNvPr id="30" name="Text 28"/>
          <p:cNvSpPr/>
          <p:nvPr/>
        </p:nvSpPr>
        <p:spPr>
          <a:xfrm>
            <a:off x="365760" y="2011680"/>
            <a:ext cx="841248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Example: "UK interest rate decision"</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2404872"/>
          <a:ext cx="8412480" cy="1569720"/>
        </p:xfrm>
        <a:graphic>
          <a:graphicData uri="http://schemas.openxmlformats.org/drawingml/2006/table">
            <a:tbl>
              <a:tblPr/>
              <a:tblGrid>
                <a:gridCol w="265176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Output</a:t>
                      </a:r>
                      <a:endParaRPr lang="en-US" sz="12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4E6E8A"/>
                          </a:solidFill>
                          <a:latin typeface="Calibri" pitchFamily="34" charset="0"/>
                          <a:ea typeface="Calibri" pitchFamily="34" charset="-122"/>
                          <a:cs typeface="Calibri" pitchFamily="34" charset="-120"/>
                        </a:rPr>
                        <a:t>Raw input</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"UK interest rate decision"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4E6E8A"/>
                          </a:solidFill>
                          <a:latin typeface="Calibri" pitchFamily="34" charset="0"/>
                          <a:ea typeface="Calibri" pitchFamily="34" charset="-122"/>
                          <a:cs typeface="Calibri" pitchFamily="34" charset="-120"/>
                        </a:rPr>
                        <a:t>After tokenise</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["UK", "interest", "rate", "decision"]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4E6E8A"/>
                          </a:solidFill>
                          <a:latin typeface="Calibri" pitchFamily="34" charset="0"/>
                          <a:ea typeface="Calibri" pitchFamily="34" charset="-122"/>
                          <a:cs typeface="Calibri" pitchFamily="34" charset="-120"/>
                        </a:rPr>
                        <a:t>After lowercase</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["uk", "interest", "rate", "decision"]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4E6E8A"/>
                          </a:solidFill>
                          <a:latin typeface="Calibri" pitchFamily="34" charset="0"/>
                          <a:ea typeface="Calibri" pitchFamily="34" charset="-122"/>
                          <a:cs typeface="Calibri" pitchFamily="34" charset="-120"/>
                        </a:rPr>
                        <a:t>After stopword removal</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["uk", "interest", "rate", "decision"]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extLst>
                  <a:ext uri="{0D108BD9-81ED-4DB2-BD59-A6C34878D82A}">
                    <a16:rowId xmlns:a16="http://schemas.microsoft.com/office/drawing/2014/main" val="10004"/>
                  </a:ext>
                </a:extLst>
              </a:tr>
              <a:tr h="0">
                <a:tc>
                  <a:txBody>
                    <a:bodyPr/>
                    <a:lstStyle/>
                    <a:p>
                      <a:pPr marL="0" indent="0">
                        <a:buNone/>
                      </a:pPr>
                      <a:r>
                        <a:rPr lang="en-US" sz="1100" b="1" dirty="0">
                          <a:solidFill>
                            <a:srgbClr val="2EC4A0"/>
                          </a:solidFill>
                          <a:latin typeface="Calibri" pitchFamily="34" charset="0"/>
                          <a:ea typeface="Calibri" pitchFamily="34" charset="-122"/>
                          <a:cs typeface="Calibri" pitchFamily="34" charset="-120"/>
                        </a:rPr>
                        <a:t>After stemming (final)</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100" b="1" dirty="0">
                          <a:solidFill>
                            <a:srgbClr val="2EC4A0"/>
                          </a:solidFill>
                          <a:latin typeface="Calibri" pitchFamily="34" charset="0"/>
                          <a:ea typeface="Calibri" pitchFamily="34" charset="-122"/>
                          <a:cs typeface="Calibri" pitchFamily="34" charset="-120"/>
                        </a:rPr>
                        <a:t>["uk", "interest", "rate", "decis"]</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BM25F Indexing — Field-Weighted Retrieval</a:t>
            </a:r>
            <a:endParaRPr lang="en-US" sz="2100" dirty="0"/>
          </a:p>
        </p:txBody>
      </p:sp>
      <p:sp>
        <p:nvSpPr>
          <p:cNvPr id="5" name="Shape 3"/>
          <p:cNvSpPr/>
          <p:nvPr/>
        </p:nvSpPr>
        <p:spPr>
          <a:xfrm>
            <a:off x="320040" y="658368"/>
            <a:ext cx="8503920" cy="1325880"/>
          </a:xfrm>
          <a:prstGeom prst="rect">
            <a:avLst/>
          </a:prstGeom>
          <a:solidFill>
            <a:srgbClr val="0A1626"/>
          </a:solidFill>
          <a:ln w="12700">
            <a:solidFill>
              <a:srgbClr val="0A1626"/>
            </a:solidFill>
            <a:prstDash val="solid"/>
          </a:ln>
        </p:spPr>
        <p:txBody>
          <a:bodyPr/>
          <a:lstStyle/>
          <a:p>
            <a:endParaRPr lang="en-IN"/>
          </a:p>
        </p:txBody>
      </p:sp>
      <p:sp>
        <p:nvSpPr>
          <p:cNvPr id="6" name="Shape 4"/>
          <p:cNvSpPr/>
          <p:nvPr/>
        </p:nvSpPr>
        <p:spPr>
          <a:xfrm>
            <a:off x="320040" y="658368"/>
            <a:ext cx="64008" cy="1325880"/>
          </a:xfrm>
          <a:prstGeom prst="rect">
            <a:avLst/>
          </a:prstGeom>
          <a:solidFill>
            <a:srgbClr val="4A9EFF"/>
          </a:solidFill>
          <a:ln w="12700">
            <a:solidFill>
              <a:srgbClr val="4A9EFF"/>
            </a:solidFill>
            <a:prstDash val="solid"/>
          </a:ln>
        </p:spPr>
        <p:txBody>
          <a:bodyPr/>
          <a:lstStyle/>
          <a:p>
            <a:endParaRPr lang="en-IN"/>
          </a:p>
        </p:txBody>
      </p:sp>
      <p:sp>
        <p:nvSpPr>
          <p:cNvPr id="7" name="Text 5"/>
          <p:cNvSpPr/>
          <p:nvPr/>
        </p:nvSpPr>
        <p:spPr>
          <a:xfrm>
            <a:off x="502920" y="713232"/>
            <a:ext cx="8229600" cy="438912"/>
          </a:xfrm>
          <a:prstGeom prst="rect">
            <a:avLst/>
          </a:prstGeom>
          <a:noFill/>
          <a:ln/>
        </p:spPr>
        <p:txBody>
          <a:bodyPr wrap="square"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c(qᵢ, D)  =  w_title × TF(qᵢ, title)  +  w_body × TF(qᵢ, body)</a:t>
            </a:r>
            <a:endParaRPr lang="en-US" sz="1400" dirty="0"/>
          </a:p>
        </p:txBody>
      </p:sp>
      <p:sp>
        <p:nvSpPr>
          <p:cNvPr id="8" name="Text 6"/>
          <p:cNvSpPr/>
          <p:nvPr/>
        </p:nvSpPr>
        <p:spPr>
          <a:xfrm>
            <a:off x="502920" y="1170432"/>
            <a:ext cx="8229600" cy="438912"/>
          </a:xfrm>
          <a:prstGeom prst="rect">
            <a:avLst/>
          </a:prstGeom>
          <a:noFill/>
          <a:ln/>
        </p:spPr>
        <p:txBody>
          <a:bodyPr wrap="square" rtlCol="0" anchor="ctr"/>
          <a:lstStyle/>
          <a:p>
            <a:pPr marL="0" indent="0" algn="ctr">
              <a:buNone/>
            </a:pPr>
            <a:r>
              <a:rPr lang="en-US" sz="1400" b="1" dirty="0">
                <a:solidFill>
                  <a:srgbClr val="4A9EFF"/>
                </a:solidFill>
                <a:latin typeface="Courier New" pitchFamily="34" charset="0"/>
                <a:ea typeface="Courier New" pitchFamily="34" charset="-122"/>
                <a:cs typeface="Courier New" pitchFamily="34" charset="-120"/>
              </a:rPr>
              <a:t>BM25F(Q,D)  =  Σ  IDF(qᵢ)  ×  [ c(qᵢ,D) × (k₁+1) ]  /  [ c(qᵢ,D) + k₁ ]</a:t>
            </a:r>
            <a:endParaRPr lang="en-US" sz="1400" dirty="0"/>
          </a:p>
        </p:txBody>
      </p:sp>
      <p:sp>
        <p:nvSpPr>
          <p:cNvPr id="9" name="Text 7"/>
          <p:cNvSpPr/>
          <p:nvPr/>
        </p:nvSpPr>
        <p:spPr>
          <a:xfrm>
            <a:off x="502920" y="1691640"/>
            <a:ext cx="8229600" cy="256032"/>
          </a:xfrm>
          <a:prstGeom prst="rect">
            <a:avLst/>
          </a:prstGeom>
          <a:noFill/>
          <a:ln/>
        </p:spPr>
        <p:txBody>
          <a:bodyPr wrap="square" rtlCol="0" anchor="ctr"/>
          <a:lstStyle/>
          <a:p>
            <a:pPr marL="0" indent="0" algn="ctr">
              <a:buNone/>
            </a:pPr>
            <a:r>
              <a:rPr lang="en-US" sz="1000" i="1" dirty="0">
                <a:solidFill>
                  <a:srgbClr val="4E6E8A"/>
                </a:solidFill>
                <a:latin typeface="Calibri" pitchFamily="34" charset="0"/>
                <a:ea typeface="Calibri" pitchFamily="34" charset="-122"/>
                <a:cs typeface="Calibri" pitchFamily="34" charset="-120"/>
              </a:rPr>
              <a:t>Note: field weights applied BEFORE the saturation function — not post-hoc to separate BM25 scores</a:t>
            </a:r>
            <a:endParaRPr lang="en-US" sz="1000" dirty="0"/>
          </a:p>
        </p:txBody>
      </p:sp>
      <p:sp>
        <p:nvSpPr>
          <p:cNvPr id="10" name="Text 8"/>
          <p:cNvSpPr/>
          <p:nvPr/>
        </p:nvSpPr>
        <p:spPr>
          <a:xfrm>
            <a:off x="320040" y="2011680"/>
            <a:ext cx="4114800" cy="320040"/>
          </a:xfrm>
          <a:prstGeom prst="rect">
            <a:avLst/>
          </a:prstGeom>
          <a:noFill/>
          <a:ln/>
        </p:spPr>
        <p:txBody>
          <a:bodyPr wrap="square" rtlCol="0" anchor="ctr"/>
          <a:lstStyle/>
          <a:p>
            <a:pPr marL="0" indent="0">
              <a:buNone/>
            </a:pPr>
            <a:r>
              <a:rPr lang="en-US" sz="1300" b="1" dirty="0">
                <a:solidFill>
                  <a:srgbClr val="B8D0E8"/>
                </a:solidFill>
                <a:latin typeface="Calibri" pitchFamily="34" charset="0"/>
                <a:ea typeface="Calibri" pitchFamily="34" charset="-122"/>
                <a:cs typeface="Calibri" pitchFamily="34" charset="-120"/>
              </a:rPr>
              <a:t>Parameters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718820008"/>
              </p:ext>
            </p:extLst>
          </p:nvPr>
        </p:nvGraphicFramePr>
        <p:xfrm>
          <a:off x="320040" y="2365051"/>
          <a:ext cx="4114800" cy="1295400"/>
        </p:xfrm>
        <a:graphic>
          <a:graphicData uri="http://schemas.openxmlformats.org/drawingml/2006/table">
            <a:tbl>
              <a:tblPr/>
              <a:tblGrid>
                <a:gridCol w="100584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Parameter</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F5A623"/>
                          </a:solidFill>
                          <a:latin typeface="Courier New" pitchFamily="34" charset="0"/>
                          <a:ea typeface="Courier New" pitchFamily="34" charset="-122"/>
                          <a:cs typeface="Courier New" pitchFamily="34" charset="-120"/>
                        </a:rPr>
                        <a:t>w_title</a:t>
                      </a:r>
                      <a:endParaRPr lang="en-US" sz="11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100" b="1" dirty="0">
                          <a:solidFill>
                            <a:srgbClr val="F5A623"/>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Title field weight</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B8D0E8"/>
                          </a:solidFill>
                          <a:latin typeface="Courier New" pitchFamily="34" charset="0"/>
                          <a:ea typeface="Courier New" pitchFamily="34" charset="-122"/>
                          <a:cs typeface="Courier New" pitchFamily="34" charset="-120"/>
                        </a:rPr>
                        <a:t>w_body</a:t>
                      </a:r>
                      <a:endParaRPr lang="en-US" sz="11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Body field weight</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B8D0E8"/>
                          </a:solidFill>
                          <a:latin typeface="Courier New" pitchFamily="34" charset="0"/>
                          <a:ea typeface="Courier New" pitchFamily="34" charset="-122"/>
                          <a:cs typeface="Courier New" pitchFamily="34" charset="-120"/>
                        </a:rPr>
                        <a:t>k₁</a:t>
                      </a:r>
                      <a:endParaRPr lang="en-US" sz="11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Term frequency saturation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B8D0E8"/>
                          </a:solidFill>
                          <a:latin typeface="Courier New" pitchFamily="34" charset="0"/>
                          <a:ea typeface="Courier New" pitchFamily="34" charset="-122"/>
                          <a:cs typeface="Courier New" pitchFamily="34" charset="-120"/>
                        </a:rPr>
                        <a:t>b</a:t>
                      </a:r>
                      <a:endParaRPr lang="en-US" sz="11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0.75</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Doc length normalisation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extLst>
                  <a:ext uri="{0D108BD9-81ED-4DB2-BD59-A6C34878D82A}">
                    <a16:rowId xmlns:a16="http://schemas.microsoft.com/office/drawing/2014/main" val="10004"/>
                  </a:ext>
                </a:extLst>
              </a:tr>
            </a:tbl>
          </a:graphicData>
        </a:graphic>
      </p:graphicFrame>
      <p:sp>
        <p:nvSpPr>
          <p:cNvPr id="12" name="Shape 9"/>
          <p:cNvSpPr/>
          <p:nvPr/>
        </p:nvSpPr>
        <p:spPr>
          <a:xfrm>
            <a:off x="4663440" y="2011680"/>
            <a:ext cx="4160520" cy="2468880"/>
          </a:xfrm>
          <a:prstGeom prst="rect">
            <a:avLst/>
          </a:prstGeom>
          <a:solidFill>
            <a:srgbClr val="1C3052"/>
          </a:solidFill>
          <a:ln w="12700">
            <a:solidFill>
              <a:srgbClr val="1C3052"/>
            </a:solidFill>
            <a:prstDash val="solid"/>
          </a:ln>
        </p:spPr>
        <p:txBody>
          <a:bodyPr/>
          <a:lstStyle/>
          <a:p>
            <a:endParaRPr lang="en-IN"/>
          </a:p>
        </p:txBody>
      </p:sp>
      <p:sp>
        <p:nvSpPr>
          <p:cNvPr id="13" name="Shape 10"/>
          <p:cNvSpPr/>
          <p:nvPr/>
        </p:nvSpPr>
        <p:spPr>
          <a:xfrm>
            <a:off x="4663440" y="2011680"/>
            <a:ext cx="64008" cy="2468880"/>
          </a:xfrm>
          <a:prstGeom prst="rect">
            <a:avLst/>
          </a:prstGeom>
          <a:solidFill>
            <a:srgbClr val="2EC4A0"/>
          </a:solidFill>
          <a:ln w="12700">
            <a:solidFill>
              <a:srgbClr val="2EC4A0"/>
            </a:solidFill>
            <a:prstDash val="solid"/>
          </a:ln>
        </p:spPr>
        <p:txBody>
          <a:bodyPr/>
          <a:lstStyle/>
          <a:p>
            <a:endParaRPr lang="en-IN"/>
          </a:p>
        </p:txBody>
      </p:sp>
      <p:sp>
        <p:nvSpPr>
          <p:cNvPr id="14" name="Text 11"/>
          <p:cNvSpPr/>
          <p:nvPr/>
        </p:nvSpPr>
        <p:spPr>
          <a:xfrm>
            <a:off x="4828032" y="2057400"/>
            <a:ext cx="3840480" cy="320040"/>
          </a:xfrm>
          <a:prstGeom prst="rect">
            <a:avLst/>
          </a:prstGeom>
          <a:noFill/>
          <a:ln/>
        </p:spPr>
        <p:txBody>
          <a:bodyPr wrap="square" rtlCol="0" anchor="ctr"/>
          <a:lstStyle/>
          <a:p>
            <a:pPr marL="0" indent="0">
              <a:buNone/>
            </a:pPr>
            <a:r>
              <a:rPr lang="en-US" sz="1300" b="1" dirty="0">
                <a:solidFill>
                  <a:srgbClr val="2EC4A0"/>
                </a:solidFill>
                <a:latin typeface="Calibri" pitchFamily="34" charset="0"/>
                <a:ea typeface="Calibri" pitchFamily="34" charset="-122"/>
                <a:cs typeface="Calibri" pitchFamily="34" charset="-120"/>
              </a:rPr>
              <a:t>Key Insight</a:t>
            </a:r>
            <a:endParaRPr lang="en-US" sz="1300" dirty="0"/>
          </a:p>
        </p:txBody>
      </p:sp>
      <p:sp>
        <p:nvSpPr>
          <p:cNvPr id="15" name="Text 12"/>
          <p:cNvSpPr/>
          <p:nvPr/>
        </p:nvSpPr>
        <p:spPr>
          <a:xfrm>
            <a:off x="4828032" y="2395728"/>
            <a:ext cx="3858768" cy="2011680"/>
          </a:xfrm>
          <a:prstGeom prst="rect">
            <a:avLst/>
          </a:prstGeom>
          <a:noFill/>
          <a:ln/>
        </p:spPr>
        <p:txBody>
          <a:bodyPr wrap="square" rtlCol="0" anchor="t"/>
          <a:lstStyle/>
          <a:p>
            <a:pPr marL="0" indent="0">
              <a:buNone/>
            </a:pPr>
            <a:r>
              <a:rPr lang="en-US" sz="1100" dirty="0">
                <a:solidFill>
                  <a:srgbClr val="B8D0E8"/>
                </a:solidFill>
                <a:latin typeface="Calibri" pitchFamily="34" charset="0"/>
                <a:ea typeface="Calibri" pitchFamily="34" charset="-122"/>
                <a:cs typeface="Calibri" pitchFamily="34" charset="-120"/>
              </a:rPr>
              <a:t>Field weights are applied to individual term frequencies BEFORE the saturation function.
Combining per-field BM25 scores post-hoc breaks the non-linear saturation that makes BM25 effective (Robertson et al., 2004).
</a:t>
            </a:r>
            <a:r>
              <a:rPr lang="en-US" sz="1100" b="1" dirty="0">
                <a:solidFill>
                  <a:srgbClr val="FFFFFF"/>
                </a:solidFill>
                <a:latin typeface="Calibri" pitchFamily="34" charset="0"/>
                <a:ea typeface="Calibri" pitchFamily="34" charset="-122"/>
                <a:cs typeface="Calibri" pitchFamily="34" charset="-120"/>
              </a:rPr>
              <a:t>Why title = 1.5?  </a:t>
            </a:r>
            <a:r>
              <a:rPr lang="en-US" sz="1100" dirty="0">
                <a:solidFill>
                  <a:srgbClr val="B8D0E8"/>
                </a:solidFill>
                <a:latin typeface="Calibri" pitchFamily="34" charset="0"/>
                <a:ea typeface="Calibri" pitchFamily="34" charset="-122"/>
                <a:cs typeface="Calibri" pitchFamily="34" charset="-120"/>
              </a:rPr>
              <a:t>A query term in a headline is stronger evidence of relevance than the same term buried in the body.</a:t>
            </a:r>
            <a:endParaRPr lang="en-US" sz="1100" dirty="0"/>
          </a:p>
        </p:txBody>
      </p:sp>
      <p:sp>
        <p:nvSpPr>
          <p:cNvPr id="16" name="Text 13"/>
          <p:cNvSpPr/>
          <p:nvPr/>
        </p:nvSpPr>
        <p:spPr>
          <a:xfrm>
            <a:off x="320040" y="4754880"/>
            <a:ext cx="8503920" cy="274320"/>
          </a:xfrm>
          <a:prstGeom prst="rect">
            <a:avLst/>
          </a:prstGeom>
          <a:noFill/>
          <a:ln/>
        </p:spPr>
        <p:txBody>
          <a:bodyPr wrap="square" rtlCol="0" anchor="ctr"/>
          <a:lstStyle/>
          <a:p>
            <a:pPr marL="0" indent="0">
              <a:buNone/>
            </a:pPr>
            <a:r>
              <a:rPr lang="en-US" sz="900" i="1" dirty="0">
                <a:solidFill>
                  <a:srgbClr val="4E6E8A"/>
                </a:solidFill>
                <a:latin typeface="Calibri" pitchFamily="34" charset="0"/>
                <a:ea typeface="Calibri" pitchFamily="34" charset="-122"/>
                <a:cs typeface="Calibri" pitchFamily="34" charset="-120"/>
              </a:rPr>
              <a:t>[Screenshot 3: segment_b_bm25f.py terminal — query with ranked BM25F scores]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Hybrid Retrieval Pipeline — Four Stages</a:t>
            </a:r>
            <a:endParaRPr lang="en-US" sz="2100" dirty="0"/>
          </a:p>
        </p:txBody>
      </p:sp>
      <p:sp>
        <p:nvSpPr>
          <p:cNvPr id="5" name="Shape 3"/>
          <p:cNvSpPr/>
          <p:nvPr/>
        </p:nvSpPr>
        <p:spPr>
          <a:xfrm>
            <a:off x="320040" y="685800"/>
            <a:ext cx="4206240" cy="1828800"/>
          </a:xfrm>
          <a:prstGeom prst="rect">
            <a:avLst/>
          </a:prstGeom>
          <a:solidFill>
            <a:srgbClr val="152338"/>
          </a:solidFill>
          <a:ln w="12700">
            <a:solidFill>
              <a:srgbClr val="152338"/>
            </a:solidFill>
            <a:prstDash val="solid"/>
          </a:ln>
        </p:spPr>
        <p:txBody>
          <a:bodyPr/>
          <a:lstStyle/>
          <a:p>
            <a:endParaRPr lang="en-IN"/>
          </a:p>
        </p:txBody>
      </p:sp>
      <p:sp>
        <p:nvSpPr>
          <p:cNvPr id="6" name="Shape 4"/>
          <p:cNvSpPr/>
          <p:nvPr/>
        </p:nvSpPr>
        <p:spPr>
          <a:xfrm>
            <a:off x="320040" y="685800"/>
            <a:ext cx="64008" cy="1828800"/>
          </a:xfrm>
          <a:prstGeom prst="rect">
            <a:avLst/>
          </a:prstGeom>
          <a:solidFill>
            <a:srgbClr val="4A9EFF"/>
          </a:solidFill>
          <a:ln w="12700">
            <a:solidFill>
              <a:srgbClr val="4A9EFF"/>
            </a:solidFill>
            <a:prstDash val="solid"/>
          </a:ln>
        </p:spPr>
        <p:txBody>
          <a:bodyPr/>
          <a:lstStyle/>
          <a:p>
            <a:endParaRPr lang="en-IN"/>
          </a:p>
        </p:txBody>
      </p:sp>
      <p:sp>
        <p:nvSpPr>
          <p:cNvPr id="7" name="Text 5"/>
          <p:cNvSpPr/>
          <p:nvPr/>
        </p:nvSpPr>
        <p:spPr>
          <a:xfrm>
            <a:off x="484632" y="777240"/>
            <a:ext cx="548640" cy="411480"/>
          </a:xfrm>
          <a:prstGeom prst="rect">
            <a:avLst/>
          </a:prstGeom>
          <a:noFill/>
          <a:ln/>
        </p:spPr>
        <p:txBody>
          <a:bodyPr wrap="square" lIns="0" tIns="0" rIns="0" bIns="0" rtlCol="0" anchor="ctr"/>
          <a:lstStyle/>
          <a:p>
            <a:pPr marL="0" indent="0">
              <a:buNone/>
            </a:pPr>
            <a:r>
              <a:rPr lang="en-US" sz="2400" b="1" dirty="0">
                <a:solidFill>
                  <a:srgbClr val="4A9EFF"/>
                </a:solidFill>
                <a:latin typeface="Calibri" pitchFamily="34" charset="0"/>
                <a:ea typeface="Calibri" pitchFamily="34" charset="-122"/>
                <a:cs typeface="Calibri" pitchFamily="34" charset="-120"/>
              </a:rPr>
              <a:t>01</a:t>
            </a:r>
            <a:endParaRPr lang="en-US" sz="2400" dirty="0"/>
          </a:p>
        </p:txBody>
      </p:sp>
      <p:sp>
        <p:nvSpPr>
          <p:cNvPr id="8" name="Text 6"/>
          <p:cNvSpPr/>
          <p:nvPr/>
        </p:nvSpPr>
        <p:spPr>
          <a:xfrm>
            <a:off x="1005840" y="777240"/>
            <a:ext cx="33832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BM25F Selection</a:t>
            </a:r>
            <a:endParaRPr lang="en-US" sz="1400" dirty="0"/>
          </a:p>
        </p:txBody>
      </p:sp>
      <p:sp>
        <p:nvSpPr>
          <p:cNvPr id="9" name="Text 7"/>
          <p:cNvSpPr/>
          <p:nvPr/>
        </p:nvSpPr>
        <p:spPr>
          <a:xfrm>
            <a:off x="484632" y="1234440"/>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Top 100 candidates — fast, high recall</a:t>
            </a:r>
            <a:endParaRPr lang="en-US" sz="1100" dirty="0"/>
          </a:p>
        </p:txBody>
      </p:sp>
      <p:sp>
        <p:nvSpPr>
          <p:cNvPr id="10" name="Text 8"/>
          <p:cNvSpPr/>
          <p:nvPr/>
        </p:nvSpPr>
        <p:spPr>
          <a:xfrm>
            <a:off x="484632" y="1618488"/>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Operates over pre-built inverted index</a:t>
            </a:r>
            <a:endParaRPr lang="en-US" sz="1100" dirty="0"/>
          </a:p>
        </p:txBody>
      </p:sp>
      <p:sp>
        <p:nvSpPr>
          <p:cNvPr id="11" name="Text 9"/>
          <p:cNvSpPr/>
          <p:nvPr/>
        </p:nvSpPr>
        <p:spPr>
          <a:xfrm>
            <a:off x="484632" y="2002536"/>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Low latency: no neural inference at this stage</a:t>
            </a:r>
            <a:endParaRPr lang="en-US" sz="1100" dirty="0"/>
          </a:p>
        </p:txBody>
      </p:sp>
      <p:sp>
        <p:nvSpPr>
          <p:cNvPr id="12" name="Shape 10"/>
          <p:cNvSpPr/>
          <p:nvPr/>
        </p:nvSpPr>
        <p:spPr>
          <a:xfrm>
            <a:off x="4800600" y="685800"/>
            <a:ext cx="4206240" cy="1828800"/>
          </a:xfrm>
          <a:prstGeom prst="rect">
            <a:avLst/>
          </a:prstGeom>
          <a:solidFill>
            <a:srgbClr val="152338"/>
          </a:solidFill>
          <a:ln w="12700">
            <a:solidFill>
              <a:srgbClr val="152338"/>
            </a:solidFill>
            <a:prstDash val="solid"/>
          </a:ln>
        </p:spPr>
        <p:txBody>
          <a:bodyPr/>
          <a:lstStyle/>
          <a:p>
            <a:endParaRPr lang="en-IN"/>
          </a:p>
        </p:txBody>
      </p:sp>
      <p:sp>
        <p:nvSpPr>
          <p:cNvPr id="13" name="Shape 11"/>
          <p:cNvSpPr/>
          <p:nvPr/>
        </p:nvSpPr>
        <p:spPr>
          <a:xfrm>
            <a:off x="4800600" y="685800"/>
            <a:ext cx="64008" cy="1828800"/>
          </a:xfrm>
          <a:prstGeom prst="rect">
            <a:avLst/>
          </a:prstGeom>
          <a:solidFill>
            <a:srgbClr val="2EC4A0"/>
          </a:solidFill>
          <a:ln w="12700">
            <a:solidFill>
              <a:srgbClr val="2EC4A0"/>
            </a:solidFill>
            <a:prstDash val="solid"/>
          </a:ln>
        </p:spPr>
        <p:txBody>
          <a:bodyPr/>
          <a:lstStyle/>
          <a:p>
            <a:endParaRPr lang="en-IN"/>
          </a:p>
        </p:txBody>
      </p:sp>
      <p:sp>
        <p:nvSpPr>
          <p:cNvPr id="14" name="Text 12"/>
          <p:cNvSpPr/>
          <p:nvPr/>
        </p:nvSpPr>
        <p:spPr>
          <a:xfrm>
            <a:off x="4965192" y="777240"/>
            <a:ext cx="548640" cy="411480"/>
          </a:xfrm>
          <a:prstGeom prst="rect">
            <a:avLst/>
          </a:prstGeom>
          <a:noFill/>
          <a:ln/>
        </p:spPr>
        <p:txBody>
          <a:bodyPr wrap="square" lIns="0" tIns="0" rIns="0" bIns="0" rtlCol="0" anchor="ctr"/>
          <a:lstStyle/>
          <a:p>
            <a:pPr marL="0" indent="0">
              <a:buNone/>
            </a:pPr>
            <a:r>
              <a:rPr lang="en-US" sz="2400" b="1" dirty="0">
                <a:solidFill>
                  <a:srgbClr val="2EC4A0"/>
                </a:solidFill>
                <a:latin typeface="Calibri" pitchFamily="34" charset="0"/>
                <a:ea typeface="Calibri" pitchFamily="34" charset="-122"/>
                <a:cs typeface="Calibri" pitchFamily="34" charset="-120"/>
              </a:rPr>
              <a:t>02</a:t>
            </a:r>
            <a:endParaRPr lang="en-US" sz="2400" dirty="0"/>
          </a:p>
        </p:txBody>
      </p:sp>
      <p:sp>
        <p:nvSpPr>
          <p:cNvPr id="15" name="Text 13"/>
          <p:cNvSpPr/>
          <p:nvPr/>
        </p:nvSpPr>
        <p:spPr>
          <a:xfrm>
            <a:off x="5486400" y="777240"/>
            <a:ext cx="33832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BERT Cross-Encoder</a:t>
            </a:r>
            <a:endParaRPr lang="en-US" sz="1400" dirty="0"/>
          </a:p>
        </p:txBody>
      </p:sp>
      <p:sp>
        <p:nvSpPr>
          <p:cNvPr id="16" name="Text 14"/>
          <p:cNvSpPr/>
          <p:nvPr/>
        </p:nvSpPr>
        <p:spPr>
          <a:xfrm>
            <a:off x="4965192" y="1234440"/>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Input: [CLS] Query [SEP] Document [SEP]</a:t>
            </a:r>
            <a:endParaRPr lang="en-US" sz="1100" dirty="0"/>
          </a:p>
        </p:txBody>
      </p:sp>
      <p:sp>
        <p:nvSpPr>
          <p:cNvPr id="17" name="Text 15"/>
          <p:cNvSpPr/>
          <p:nvPr/>
        </p:nvSpPr>
        <p:spPr>
          <a:xfrm>
            <a:off x="4965192" y="1618488"/>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12-layer joint attention → scalar score</a:t>
            </a:r>
            <a:endParaRPr lang="en-US" sz="1100" dirty="0"/>
          </a:p>
        </p:txBody>
      </p:sp>
      <p:sp>
        <p:nvSpPr>
          <p:cNvPr id="18" name="Text 16"/>
          <p:cNvSpPr/>
          <p:nvPr/>
        </p:nvSpPr>
        <p:spPr>
          <a:xfrm>
            <a:off x="4965192" y="2002536"/>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Model: ms-marco-MiniLM-L-6-v2</a:t>
            </a:r>
            <a:endParaRPr lang="en-US" sz="1100" dirty="0"/>
          </a:p>
        </p:txBody>
      </p:sp>
      <p:sp>
        <p:nvSpPr>
          <p:cNvPr id="19" name="Shape 17"/>
          <p:cNvSpPr/>
          <p:nvPr/>
        </p:nvSpPr>
        <p:spPr>
          <a:xfrm>
            <a:off x="320040" y="2651760"/>
            <a:ext cx="4206240" cy="1828800"/>
          </a:xfrm>
          <a:prstGeom prst="rect">
            <a:avLst/>
          </a:prstGeom>
          <a:solidFill>
            <a:srgbClr val="152338"/>
          </a:solidFill>
          <a:ln w="12700">
            <a:solidFill>
              <a:srgbClr val="152338"/>
            </a:solidFill>
            <a:prstDash val="solid"/>
          </a:ln>
        </p:spPr>
        <p:txBody>
          <a:bodyPr/>
          <a:lstStyle/>
          <a:p>
            <a:endParaRPr lang="en-IN"/>
          </a:p>
        </p:txBody>
      </p:sp>
      <p:sp>
        <p:nvSpPr>
          <p:cNvPr id="20" name="Shape 18"/>
          <p:cNvSpPr/>
          <p:nvPr/>
        </p:nvSpPr>
        <p:spPr>
          <a:xfrm>
            <a:off x="320040" y="2651760"/>
            <a:ext cx="64008" cy="1828800"/>
          </a:xfrm>
          <a:prstGeom prst="rect">
            <a:avLst/>
          </a:prstGeom>
          <a:solidFill>
            <a:srgbClr val="F5A623"/>
          </a:solidFill>
          <a:ln w="12700">
            <a:solidFill>
              <a:srgbClr val="F5A623"/>
            </a:solidFill>
            <a:prstDash val="solid"/>
          </a:ln>
        </p:spPr>
        <p:txBody>
          <a:bodyPr/>
          <a:lstStyle/>
          <a:p>
            <a:endParaRPr lang="en-IN"/>
          </a:p>
        </p:txBody>
      </p:sp>
      <p:sp>
        <p:nvSpPr>
          <p:cNvPr id="21" name="Text 19"/>
          <p:cNvSpPr/>
          <p:nvPr/>
        </p:nvSpPr>
        <p:spPr>
          <a:xfrm>
            <a:off x="484632" y="2743200"/>
            <a:ext cx="548640" cy="411480"/>
          </a:xfrm>
          <a:prstGeom prst="rect">
            <a:avLst/>
          </a:prstGeom>
          <a:noFill/>
          <a:ln/>
        </p:spPr>
        <p:txBody>
          <a:bodyPr wrap="square" lIns="0" tIns="0" rIns="0" bIns="0" rtlCol="0" anchor="ctr"/>
          <a:lstStyle/>
          <a:p>
            <a:pPr marL="0" indent="0">
              <a:buNone/>
            </a:pPr>
            <a:r>
              <a:rPr lang="en-US" sz="2400" b="1" dirty="0">
                <a:solidFill>
                  <a:srgbClr val="F5A623"/>
                </a:solidFill>
                <a:latin typeface="Calibri" pitchFamily="34" charset="0"/>
                <a:ea typeface="Calibri" pitchFamily="34" charset="-122"/>
                <a:cs typeface="Calibri" pitchFamily="34" charset="-120"/>
              </a:rPr>
              <a:t>03</a:t>
            </a:r>
            <a:endParaRPr lang="en-US" sz="2400" dirty="0"/>
          </a:p>
        </p:txBody>
      </p:sp>
      <p:sp>
        <p:nvSpPr>
          <p:cNvPr id="22" name="Text 20"/>
          <p:cNvSpPr/>
          <p:nvPr/>
        </p:nvSpPr>
        <p:spPr>
          <a:xfrm>
            <a:off x="1005840" y="2743200"/>
            <a:ext cx="33832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Temporal Boost</a:t>
            </a:r>
            <a:endParaRPr lang="en-US" sz="1400" dirty="0"/>
          </a:p>
        </p:txBody>
      </p:sp>
      <p:sp>
        <p:nvSpPr>
          <p:cNvPr id="23" name="Text 21"/>
          <p:cNvSpPr/>
          <p:nvPr/>
        </p:nvSpPr>
        <p:spPr>
          <a:xfrm>
            <a:off x="484632" y="3200400"/>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boost(t) = exp(−0.05 × age_in_days)</a:t>
            </a:r>
            <a:endParaRPr lang="en-US" sz="1100" dirty="0"/>
          </a:p>
        </p:txBody>
      </p:sp>
      <p:sp>
        <p:nvSpPr>
          <p:cNvPr id="24" name="Text 22"/>
          <p:cNvSpPr/>
          <p:nvPr/>
        </p:nvSpPr>
        <p:spPr>
          <a:xfrm>
            <a:off x="484632" y="3584448"/>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Recent articles score higher</a:t>
            </a:r>
            <a:endParaRPr lang="en-US" sz="1100" dirty="0"/>
          </a:p>
        </p:txBody>
      </p:sp>
      <p:sp>
        <p:nvSpPr>
          <p:cNvPr id="25" name="Text 23"/>
          <p:cNvSpPr/>
          <p:nvPr/>
        </p:nvSpPr>
        <p:spPr>
          <a:xfrm>
            <a:off x="484632" y="3968496"/>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λ = 0.05 tuned for news decay rate</a:t>
            </a:r>
            <a:endParaRPr lang="en-US" sz="1100" dirty="0"/>
          </a:p>
        </p:txBody>
      </p:sp>
      <p:sp>
        <p:nvSpPr>
          <p:cNvPr id="26" name="Shape 24"/>
          <p:cNvSpPr/>
          <p:nvPr/>
        </p:nvSpPr>
        <p:spPr>
          <a:xfrm>
            <a:off x="4800600" y="2651760"/>
            <a:ext cx="4206240" cy="1828800"/>
          </a:xfrm>
          <a:prstGeom prst="rect">
            <a:avLst/>
          </a:prstGeom>
          <a:solidFill>
            <a:srgbClr val="152338"/>
          </a:solidFill>
          <a:ln w="12700">
            <a:solidFill>
              <a:srgbClr val="152338"/>
            </a:solidFill>
            <a:prstDash val="solid"/>
          </a:ln>
        </p:spPr>
        <p:txBody>
          <a:bodyPr/>
          <a:lstStyle/>
          <a:p>
            <a:endParaRPr lang="en-IN"/>
          </a:p>
        </p:txBody>
      </p:sp>
      <p:sp>
        <p:nvSpPr>
          <p:cNvPr id="27" name="Shape 25"/>
          <p:cNvSpPr/>
          <p:nvPr/>
        </p:nvSpPr>
        <p:spPr>
          <a:xfrm>
            <a:off x="4800600" y="2651760"/>
            <a:ext cx="64008" cy="1828800"/>
          </a:xfrm>
          <a:prstGeom prst="rect">
            <a:avLst/>
          </a:prstGeom>
          <a:solidFill>
            <a:srgbClr val="FF6464"/>
          </a:solidFill>
          <a:ln w="12700">
            <a:solidFill>
              <a:srgbClr val="FF6464"/>
            </a:solidFill>
            <a:prstDash val="solid"/>
          </a:ln>
        </p:spPr>
        <p:txBody>
          <a:bodyPr/>
          <a:lstStyle/>
          <a:p>
            <a:endParaRPr lang="en-IN"/>
          </a:p>
        </p:txBody>
      </p:sp>
      <p:sp>
        <p:nvSpPr>
          <p:cNvPr id="28" name="Text 26"/>
          <p:cNvSpPr/>
          <p:nvPr/>
        </p:nvSpPr>
        <p:spPr>
          <a:xfrm>
            <a:off x="4965192" y="2743200"/>
            <a:ext cx="548640" cy="411480"/>
          </a:xfrm>
          <a:prstGeom prst="rect">
            <a:avLst/>
          </a:prstGeom>
          <a:noFill/>
          <a:ln/>
        </p:spPr>
        <p:txBody>
          <a:bodyPr wrap="square" lIns="0" tIns="0" rIns="0" bIns="0" rtlCol="0" anchor="ctr"/>
          <a:lstStyle/>
          <a:p>
            <a:pPr marL="0" indent="0">
              <a:buNone/>
            </a:pPr>
            <a:r>
              <a:rPr lang="en-US" sz="2400" b="1" dirty="0">
                <a:solidFill>
                  <a:srgbClr val="FF6464"/>
                </a:solidFill>
                <a:latin typeface="Calibri" pitchFamily="34" charset="0"/>
                <a:ea typeface="Calibri" pitchFamily="34" charset="-122"/>
                <a:cs typeface="Calibri" pitchFamily="34" charset="-120"/>
              </a:rPr>
              <a:t>04</a:t>
            </a:r>
            <a:endParaRPr lang="en-US" sz="2400" dirty="0"/>
          </a:p>
        </p:txBody>
      </p:sp>
      <p:sp>
        <p:nvSpPr>
          <p:cNvPr id="29" name="Text 27"/>
          <p:cNvSpPr/>
          <p:nvPr/>
        </p:nvSpPr>
        <p:spPr>
          <a:xfrm>
            <a:off x="5486400" y="2743200"/>
            <a:ext cx="338328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Source Authority</a:t>
            </a:r>
            <a:endParaRPr lang="en-US" sz="1400" dirty="0"/>
          </a:p>
        </p:txBody>
      </p:sp>
      <p:sp>
        <p:nvSpPr>
          <p:cNvPr id="30" name="Text 28"/>
          <p:cNvSpPr/>
          <p:nvPr/>
        </p:nvSpPr>
        <p:spPr>
          <a:xfrm>
            <a:off x="4965192" y="3200400"/>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BBC = 1.0  ·  NYT = 1.0</a:t>
            </a:r>
            <a:endParaRPr lang="en-US" sz="1100" dirty="0"/>
          </a:p>
        </p:txBody>
      </p:sp>
      <p:sp>
        <p:nvSpPr>
          <p:cNvPr id="31" name="Text 29"/>
          <p:cNvSpPr/>
          <p:nvPr/>
        </p:nvSpPr>
        <p:spPr>
          <a:xfrm>
            <a:off x="4965192" y="3584448"/>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Unknown sources = 0.7</a:t>
            </a:r>
            <a:endParaRPr lang="en-US" sz="1100" dirty="0"/>
          </a:p>
        </p:txBody>
      </p:sp>
      <p:sp>
        <p:nvSpPr>
          <p:cNvPr id="32" name="Text 30"/>
          <p:cNvSpPr/>
          <p:nvPr/>
        </p:nvSpPr>
        <p:spPr>
          <a:xfrm>
            <a:off x="4965192" y="3968496"/>
            <a:ext cx="3931920" cy="347472"/>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Credibility tiebreaker signal</a:t>
            </a:r>
            <a:endParaRPr lang="en-US" sz="1100" dirty="0"/>
          </a:p>
        </p:txBody>
      </p:sp>
      <p:sp>
        <p:nvSpPr>
          <p:cNvPr id="33" name="Shape 31"/>
          <p:cNvSpPr/>
          <p:nvPr/>
        </p:nvSpPr>
        <p:spPr>
          <a:xfrm>
            <a:off x="320040" y="4636008"/>
            <a:ext cx="8503920" cy="393192"/>
          </a:xfrm>
          <a:prstGeom prst="rect">
            <a:avLst/>
          </a:prstGeom>
          <a:solidFill>
            <a:srgbClr val="1C3052"/>
          </a:solidFill>
          <a:ln w="12700">
            <a:solidFill>
              <a:srgbClr val="1C3052"/>
            </a:solidFill>
            <a:prstDash val="solid"/>
          </a:ln>
        </p:spPr>
        <p:txBody>
          <a:bodyPr/>
          <a:lstStyle/>
          <a:p>
            <a:endParaRPr lang="en-IN"/>
          </a:p>
        </p:txBody>
      </p:sp>
      <p:sp>
        <p:nvSpPr>
          <p:cNvPr id="34" name="Shape 32"/>
          <p:cNvSpPr/>
          <p:nvPr/>
        </p:nvSpPr>
        <p:spPr>
          <a:xfrm>
            <a:off x="320040" y="4636008"/>
            <a:ext cx="64008" cy="393192"/>
          </a:xfrm>
          <a:prstGeom prst="rect">
            <a:avLst/>
          </a:prstGeom>
          <a:solidFill>
            <a:srgbClr val="F5A623"/>
          </a:solidFill>
          <a:ln w="12700">
            <a:solidFill>
              <a:srgbClr val="F5A623"/>
            </a:solidFill>
            <a:prstDash val="solid"/>
          </a:ln>
        </p:spPr>
        <p:txBody>
          <a:bodyPr/>
          <a:lstStyle/>
          <a:p>
            <a:endParaRPr lang="en-IN"/>
          </a:p>
        </p:txBody>
      </p:sp>
      <p:sp>
        <p:nvSpPr>
          <p:cNvPr id="35" name="Text 33"/>
          <p:cNvSpPr/>
          <p:nvPr/>
        </p:nvSpPr>
        <p:spPr>
          <a:xfrm>
            <a:off x="502920" y="4636008"/>
            <a:ext cx="8229600" cy="393192"/>
          </a:xfrm>
          <a:prstGeom prst="rect">
            <a:avLst/>
          </a:prstGeom>
          <a:noFill/>
          <a:ln/>
        </p:spPr>
        <p:txBody>
          <a:bodyPr wrap="square" rtlCol="0" anchor="ctr"/>
          <a:lstStyle/>
          <a:p>
            <a:pPr marL="0" indent="0">
              <a:buNone/>
            </a:pPr>
            <a:r>
              <a:rPr lang="en-US" sz="1100" dirty="0">
                <a:solidFill>
                  <a:srgbClr val="F5A623"/>
                </a:solidFill>
                <a:latin typeface="Calibri" pitchFamily="34" charset="0"/>
                <a:ea typeface="Calibri" pitchFamily="34" charset="-122"/>
                <a:cs typeface="Calibri" pitchFamily="34" charset="-120"/>
              </a:rPr>
              <a:t>Trade-off: Cross-encoder is precise but ~2s per query for 100 candidates. </a:t>
            </a:r>
          </a:p>
          <a:p>
            <a:pPr marL="0" indent="0">
              <a:buNone/>
            </a:pPr>
            <a:r>
              <a:rPr lang="en-US" sz="1100" dirty="0">
                <a:solidFill>
                  <a:srgbClr val="F5A623"/>
                </a:solidFill>
                <a:latin typeface="Calibri" pitchFamily="34" charset="0"/>
                <a:ea typeface="Calibri" pitchFamily="34" charset="-122"/>
                <a:cs typeface="Calibri" pitchFamily="34" charset="-120"/>
              </a:rPr>
              <a:t>Bi-encoder (DPR/ColBERT) would be faster but less accurate per pair, deliberate design choice.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Final Scoring Formula</a:t>
            </a:r>
            <a:endParaRPr lang="en-US" sz="2100" dirty="0"/>
          </a:p>
        </p:txBody>
      </p:sp>
      <p:sp>
        <p:nvSpPr>
          <p:cNvPr id="5" name="Shape 3"/>
          <p:cNvSpPr/>
          <p:nvPr/>
        </p:nvSpPr>
        <p:spPr>
          <a:xfrm>
            <a:off x="320040" y="658368"/>
            <a:ext cx="8503920" cy="2148840"/>
          </a:xfrm>
          <a:prstGeom prst="rect">
            <a:avLst/>
          </a:prstGeom>
          <a:solidFill>
            <a:srgbClr val="0A1626"/>
          </a:solidFill>
          <a:ln w="12700">
            <a:solidFill>
              <a:srgbClr val="0A1626"/>
            </a:solidFill>
            <a:prstDash val="solid"/>
          </a:ln>
        </p:spPr>
        <p:txBody>
          <a:bodyPr/>
          <a:lstStyle/>
          <a:p>
            <a:endParaRPr lang="en-IN"/>
          </a:p>
        </p:txBody>
      </p:sp>
      <p:sp>
        <p:nvSpPr>
          <p:cNvPr id="6" name="Shape 4"/>
          <p:cNvSpPr/>
          <p:nvPr/>
        </p:nvSpPr>
        <p:spPr>
          <a:xfrm>
            <a:off x="320040" y="658368"/>
            <a:ext cx="64008" cy="2148840"/>
          </a:xfrm>
          <a:prstGeom prst="rect">
            <a:avLst/>
          </a:prstGeom>
          <a:solidFill>
            <a:srgbClr val="4A9EFF"/>
          </a:solidFill>
          <a:ln w="12700">
            <a:solidFill>
              <a:srgbClr val="4A9EFF"/>
            </a:solidFill>
            <a:prstDash val="solid"/>
          </a:ln>
        </p:spPr>
        <p:txBody>
          <a:bodyPr/>
          <a:lstStyle/>
          <a:p>
            <a:endParaRPr lang="en-IN"/>
          </a:p>
        </p:txBody>
      </p:sp>
      <p:sp>
        <p:nvSpPr>
          <p:cNvPr id="7" name="Text 5"/>
          <p:cNvSpPr/>
          <p:nvPr/>
        </p:nvSpPr>
        <p:spPr>
          <a:xfrm>
            <a:off x="502920" y="749808"/>
            <a:ext cx="8229600" cy="384048"/>
          </a:xfrm>
          <a:prstGeom prst="rect">
            <a:avLst/>
          </a:prstGeom>
          <a:noFill/>
          <a:ln/>
        </p:spPr>
        <p:txBody>
          <a:bodyPr wrap="square" rtlCol="0" anchor="ctr"/>
          <a:lstStyle/>
          <a:p>
            <a:pPr marL="0" indent="0" algn="ctr">
              <a:buNone/>
            </a:pPr>
            <a:r>
              <a:rPr lang="en-US" sz="1500" b="1" dirty="0">
                <a:solidFill>
                  <a:srgbClr val="4E6E8A"/>
                </a:solidFill>
                <a:latin typeface="Courier New" pitchFamily="34" charset="0"/>
                <a:ea typeface="Courier New" pitchFamily="34" charset="-122"/>
                <a:cs typeface="Courier New" pitchFamily="34" charset="-120"/>
              </a:rPr>
              <a:t>final_score(Q, D)  =</a:t>
            </a:r>
            <a:endParaRPr lang="en-US" sz="1500" dirty="0"/>
          </a:p>
        </p:txBody>
      </p:sp>
      <p:sp>
        <p:nvSpPr>
          <p:cNvPr id="8" name="Text 6"/>
          <p:cNvSpPr/>
          <p:nvPr/>
        </p:nvSpPr>
        <p:spPr>
          <a:xfrm>
            <a:off x="1097280" y="1143000"/>
            <a:ext cx="7315200" cy="1508760"/>
          </a:xfrm>
          <a:prstGeom prst="rect">
            <a:avLst/>
          </a:prstGeom>
          <a:noFill/>
          <a:ln/>
        </p:spPr>
        <p:txBody>
          <a:bodyPr wrap="square" rtlCol="0" anchor="ctr"/>
          <a:lstStyle/>
          <a:p>
            <a:pPr marL="0" indent="0" algn="ctr">
              <a:lnSpc>
                <a:spcPct val="145000"/>
              </a:lnSpc>
              <a:buNone/>
            </a:pPr>
            <a:r>
              <a:rPr lang="en-US" sz="1700" b="1" dirty="0">
                <a:solidFill>
                  <a:srgbClr val="4A9EFF"/>
                </a:solidFill>
                <a:latin typeface="Courier New" pitchFamily="34" charset="0"/>
                <a:ea typeface="Courier New" pitchFamily="34" charset="-122"/>
                <a:cs typeface="Courier New" pitchFamily="34" charset="-120"/>
              </a:rPr>
              <a:t>0.35 × BM25F(Q,D)</a:t>
            </a:r>
            <a:r>
              <a:rPr lang="en-US" sz="1700" b="1" dirty="0">
                <a:solidFill>
                  <a:srgbClr val="2EC4A0"/>
                </a:solidFill>
                <a:latin typeface="Courier New" pitchFamily="34" charset="0"/>
                <a:ea typeface="Courier New" pitchFamily="34" charset="-122"/>
                <a:cs typeface="Courier New" pitchFamily="34" charset="-120"/>
              </a:rPr>
              <a:t>  +  0.25 × BERT(Q,D)</a:t>
            </a:r>
            <a:r>
              <a:rPr lang="en-US" sz="1700" b="1" dirty="0">
                <a:solidFill>
                  <a:srgbClr val="F5A623"/>
                </a:solidFill>
                <a:latin typeface="Courier New" pitchFamily="34" charset="0"/>
                <a:ea typeface="Courier New" pitchFamily="34" charset="-122"/>
                <a:cs typeface="Courier New" pitchFamily="34" charset="-120"/>
              </a:rPr>
              <a:t>  +  0.15 × temporal_boost(t)</a:t>
            </a:r>
            <a:r>
              <a:rPr lang="en-US" sz="1700" b="1" dirty="0">
                <a:solidFill>
                  <a:srgbClr val="FF6464"/>
                </a:solidFill>
                <a:latin typeface="Courier New" pitchFamily="34" charset="0"/>
                <a:ea typeface="Courier New" pitchFamily="34" charset="-122"/>
                <a:cs typeface="Courier New" pitchFamily="34" charset="-120"/>
              </a:rPr>
              <a:t>  +  0.10 × source_authority</a:t>
            </a:r>
            <a:endParaRPr lang="en-US" sz="1700" dirty="0"/>
          </a:p>
        </p:txBody>
      </p:sp>
      <p:sp>
        <p:nvSpPr>
          <p:cNvPr id="9" name="Shape 7"/>
          <p:cNvSpPr/>
          <p:nvPr/>
        </p:nvSpPr>
        <p:spPr>
          <a:xfrm>
            <a:off x="320040" y="2944368"/>
            <a:ext cx="2011680" cy="1627632"/>
          </a:xfrm>
          <a:prstGeom prst="rect">
            <a:avLst/>
          </a:prstGeom>
          <a:solidFill>
            <a:srgbClr val="152338"/>
          </a:solidFill>
          <a:ln w="12700">
            <a:solidFill>
              <a:srgbClr val="152338"/>
            </a:solidFill>
            <a:prstDash val="solid"/>
          </a:ln>
        </p:spPr>
        <p:txBody>
          <a:bodyPr/>
          <a:lstStyle/>
          <a:p>
            <a:endParaRPr lang="en-IN"/>
          </a:p>
        </p:txBody>
      </p:sp>
      <p:sp>
        <p:nvSpPr>
          <p:cNvPr id="10" name="Shape 8"/>
          <p:cNvSpPr/>
          <p:nvPr/>
        </p:nvSpPr>
        <p:spPr>
          <a:xfrm>
            <a:off x="320040" y="2944368"/>
            <a:ext cx="2011680" cy="64008"/>
          </a:xfrm>
          <a:prstGeom prst="rect">
            <a:avLst/>
          </a:prstGeom>
          <a:solidFill>
            <a:srgbClr val="4A9EFF"/>
          </a:solidFill>
          <a:ln w="12700">
            <a:solidFill>
              <a:srgbClr val="4A9EFF"/>
            </a:solidFill>
            <a:prstDash val="solid"/>
          </a:ln>
        </p:spPr>
        <p:txBody>
          <a:bodyPr/>
          <a:lstStyle/>
          <a:p>
            <a:endParaRPr lang="en-IN"/>
          </a:p>
        </p:txBody>
      </p:sp>
      <p:sp>
        <p:nvSpPr>
          <p:cNvPr id="11" name="Text 9"/>
          <p:cNvSpPr/>
          <p:nvPr/>
        </p:nvSpPr>
        <p:spPr>
          <a:xfrm>
            <a:off x="320040" y="3017520"/>
            <a:ext cx="2011680" cy="594360"/>
          </a:xfrm>
          <a:prstGeom prst="rect">
            <a:avLst/>
          </a:prstGeom>
          <a:noFill/>
          <a:ln/>
        </p:spPr>
        <p:txBody>
          <a:bodyPr wrap="square" rtlCol="0" anchor="ctr"/>
          <a:lstStyle/>
          <a:p>
            <a:pPr marL="0" indent="0" algn="ctr">
              <a:buNone/>
            </a:pPr>
            <a:r>
              <a:rPr lang="en-US" sz="2800" b="1" dirty="0">
                <a:solidFill>
                  <a:srgbClr val="4A9EFF"/>
                </a:solidFill>
                <a:latin typeface="Calibri" pitchFamily="34" charset="0"/>
                <a:ea typeface="Calibri" pitchFamily="34" charset="-122"/>
                <a:cs typeface="Calibri" pitchFamily="34" charset="-120"/>
              </a:rPr>
              <a:t>35%</a:t>
            </a:r>
            <a:endParaRPr lang="en-US" sz="2800" dirty="0"/>
          </a:p>
        </p:txBody>
      </p:sp>
      <p:sp>
        <p:nvSpPr>
          <p:cNvPr id="12" name="Text 10"/>
          <p:cNvSpPr/>
          <p:nvPr/>
        </p:nvSpPr>
        <p:spPr>
          <a:xfrm>
            <a:off x="320040" y="3611880"/>
            <a:ext cx="20116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BM25F</a:t>
            </a:r>
            <a:endParaRPr lang="en-US" sz="1200" dirty="0"/>
          </a:p>
        </p:txBody>
      </p:sp>
      <p:sp>
        <p:nvSpPr>
          <p:cNvPr id="13" name="Text 11"/>
          <p:cNvSpPr/>
          <p:nvPr/>
        </p:nvSpPr>
        <p:spPr>
          <a:xfrm>
            <a:off x="393192" y="3913632"/>
            <a:ext cx="1874520" cy="548640"/>
          </a:xfrm>
          <a:prstGeom prst="rect">
            <a:avLst/>
          </a:prstGeom>
          <a:noFill/>
          <a:ln/>
        </p:spPr>
        <p:txBody>
          <a:bodyPr wrap="square" rtlCol="0" anchor="ctr"/>
          <a:lstStyle/>
          <a:p>
            <a:pPr marL="0" indent="0" algn="ctr">
              <a:buNone/>
            </a:pPr>
            <a:r>
              <a:rPr lang="en-US" sz="1000" dirty="0">
                <a:solidFill>
                  <a:srgbClr val="4E6E8A"/>
                </a:solidFill>
                <a:latin typeface="Calibri" pitchFamily="34" charset="0"/>
                <a:ea typeface="Calibri" pitchFamily="34" charset="-122"/>
                <a:cs typeface="Calibri" pitchFamily="34" charset="-120"/>
              </a:rPr>
              <a:t>Highest — zero-overlap docs rarely relevant</a:t>
            </a:r>
            <a:endParaRPr lang="en-US" sz="1000" dirty="0"/>
          </a:p>
        </p:txBody>
      </p:sp>
      <p:sp>
        <p:nvSpPr>
          <p:cNvPr id="14" name="Shape 12"/>
          <p:cNvSpPr/>
          <p:nvPr/>
        </p:nvSpPr>
        <p:spPr>
          <a:xfrm>
            <a:off x="2468880" y="2944368"/>
            <a:ext cx="2011680" cy="1627632"/>
          </a:xfrm>
          <a:prstGeom prst="rect">
            <a:avLst/>
          </a:prstGeom>
          <a:solidFill>
            <a:srgbClr val="152338"/>
          </a:solidFill>
          <a:ln w="12700">
            <a:solidFill>
              <a:srgbClr val="152338"/>
            </a:solidFill>
            <a:prstDash val="solid"/>
          </a:ln>
        </p:spPr>
        <p:txBody>
          <a:bodyPr/>
          <a:lstStyle/>
          <a:p>
            <a:endParaRPr lang="en-IN"/>
          </a:p>
        </p:txBody>
      </p:sp>
      <p:sp>
        <p:nvSpPr>
          <p:cNvPr id="15" name="Shape 13"/>
          <p:cNvSpPr/>
          <p:nvPr/>
        </p:nvSpPr>
        <p:spPr>
          <a:xfrm>
            <a:off x="2468880" y="2944368"/>
            <a:ext cx="2011680" cy="64008"/>
          </a:xfrm>
          <a:prstGeom prst="rect">
            <a:avLst/>
          </a:prstGeom>
          <a:solidFill>
            <a:srgbClr val="2EC4A0"/>
          </a:solidFill>
          <a:ln w="12700">
            <a:solidFill>
              <a:srgbClr val="2EC4A0"/>
            </a:solidFill>
            <a:prstDash val="solid"/>
          </a:ln>
        </p:spPr>
        <p:txBody>
          <a:bodyPr/>
          <a:lstStyle/>
          <a:p>
            <a:endParaRPr lang="en-IN"/>
          </a:p>
        </p:txBody>
      </p:sp>
      <p:sp>
        <p:nvSpPr>
          <p:cNvPr id="16" name="Text 14"/>
          <p:cNvSpPr/>
          <p:nvPr/>
        </p:nvSpPr>
        <p:spPr>
          <a:xfrm>
            <a:off x="2468880" y="3017520"/>
            <a:ext cx="2011680" cy="594360"/>
          </a:xfrm>
          <a:prstGeom prst="rect">
            <a:avLst/>
          </a:prstGeom>
          <a:noFill/>
          <a:ln/>
        </p:spPr>
        <p:txBody>
          <a:bodyPr wrap="square" rtlCol="0" anchor="ctr"/>
          <a:lstStyle/>
          <a:p>
            <a:pPr marL="0" indent="0" algn="ctr">
              <a:buNone/>
            </a:pPr>
            <a:r>
              <a:rPr lang="en-US" sz="2800" b="1" dirty="0">
                <a:solidFill>
                  <a:srgbClr val="2EC4A0"/>
                </a:solidFill>
                <a:latin typeface="Calibri" pitchFamily="34" charset="0"/>
                <a:ea typeface="Calibri" pitchFamily="34" charset="-122"/>
                <a:cs typeface="Calibri" pitchFamily="34" charset="-120"/>
              </a:rPr>
              <a:t>25%</a:t>
            </a:r>
            <a:endParaRPr lang="en-US" sz="2800" dirty="0"/>
          </a:p>
        </p:txBody>
      </p:sp>
      <p:sp>
        <p:nvSpPr>
          <p:cNvPr id="17" name="Text 15"/>
          <p:cNvSpPr/>
          <p:nvPr/>
        </p:nvSpPr>
        <p:spPr>
          <a:xfrm>
            <a:off x="2468880" y="3611880"/>
            <a:ext cx="20116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BERT</a:t>
            </a:r>
            <a:endParaRPr lang="en-US" sz="1200" dirty="0"/>
          </a:p>
        </p:txBody>
      </p:sp>
      <p:sp>
        <p:nvSpPr>
          <p:cNvPr id="18" name="Text 16"/>
          <p:cNvSpPr/>
          <p:nvPr/>
        </p:nvSpPr>
        <p:spPr>
          <a:xfrm>
            <a:off x="2542032" y="3913632"/>
            <a:ext cx="1874520" cy="548640"/>
          </a:xfrm>
          <a:prstGeom prst="rect">
            <a:avLst/>
          </a:prstGeom>
          <a:noFill/>
          <a:ln/>
        </p:spPr>
        <p:txBody>
          <a:bodyPr wrap="square" rtlCol="0" anchor="ctr"/>
          <a:lstStyle/>
          <a:p>
            <a:pPr marL="0" indent="0" algn="ctr">
              <a:buNone/>
            </a:pPr>
            <a:r>
              <a:rPr lang="en-US" sz="1000" dirty="0">
                <a:solidFill>
                  <a:srgbClr val="4E6E8A"/>
                </a:solidFill>
                <a:latin typeface="Calibri" pitchFamily="34" charset="0"/>
                <a:ea typeface="Calibri" pitchFamily="34" charset="-122"/>
                <a:cs typeface="Calibri" pitchFamily="34" charset="-120"/>
              </a:rPr>
              <a:t>Semantic refinement beyond keywords</a:t>
            </a:r>
            <a:endParaRPr lang="en-US" sz="1000" dirty="0"/>
          </a:p>
        </p:txBody>
      </p:sp>
      <p:sp>
        <p:nvSpPr>
          <p:cNvPr id="19" name="Shape 17"/>
          <p:cNvSpPr/>
          <p:nvPr/>
        </p:nvSpPr>
        <p:spPr>
          <a:xfrm>
            <a:off x="4617720" y="2944368"/>
            <a:ext cx="2011680" cy="1627632"/>
          </a:xfrm>
          <a:prstGeom prst="rect">
            <a:avLst/>
          </a:prstGeom>
          <a:solidFill>
            <a:srgbClr val="152338"/>
          </a:solidFill>
          <a:ln w="12700">
            <a:solidFill>
              <a:srgbClr val="152338"/>
            </a:solidFill>
            <a:prstDash val="solid"/>
          </a:ln>
        </p:spPr>
        <p:txBody>
          <a:bodyPr/>
          <a:lstStyle/>
          <a:p>
            <a:endParaRPr lang="en-IN"/>
          </a:p>
        </p:txBody>
      </p:sp>
      <p:sp>
        <p:nvSpPr>
          <p:cNvPr id="20" name="Shape 18"/>
          <p:cNvSpPr/>
          <p:nvPr/>
        </p:nvSpPr>
        <p:spPr>
          <a:xfrm>
            <a:off x="4617720" y="2944368"/>
            <a:ext cx="2011680" cy="64008"/>
          </a:xfrm>
          <a:prstGeom prst="rect">
            <a:avLst/>
          </a:prstGeom>
          <a:solidFill>
            <a:srgbClr val="F5A623"/>
          </a:solidFill>
          <a:ln w="12700">
            <a:solidFill>
              <a:srgbClr val="F5A623"/>
            </a:solidFill>
            <a:prstDash val="solid"/>
          </a:ln>
        </p:spPr>
        <p:txBody>
          <a:bodyPr/>
          <a:lstStyle/>
          <a:p>
            <a:endParaRPr lang="en-IN"/>
          </a:p>
        </p:txBody>
      </p:sp>
      <p:sp>
        <p:nvSpPr>
          <p:cNvPr id="21" name="Text 19"/>
          <p:cNvSpPr/>
          <p:nvPr/>
        </p:nvSpPr>
        <p:spPr>
          <a:xfrm>
            <a:off x="4617720" y="3017520"/>
            <a:ext cx="2011680" cy="594360"/>
          </a:xfrm>
          <a:prstGeom prst="rect">
            <a:avLst/>
          </a:prstGeom>
          <a:noFill/>
          <a:ln/>
        </p:spPr>
        <p:txBody>
          <a:bodyPr wrap="square" rtlCol="0" anchor="ctr"/>
          <a:lstStyle/>
          <a:p>
            <a:pPr marL="0" indent="0" algn="ctr">
              <a:buNone/>
            </a:pPr>
            <a:r>
              <a:rPr lang="en-US" sz="2800" b="1" dirty="0">
                <a:solidFill>
                  <a:srgbClr val="F5A623"/>
                </a:solidFill>
                <a:latin typeface="Calibri" pitchFamily="34" charset="0"/>
                <a:ea typeface="Calibri" pitchFamily="34" charset="-122"/>
                <a:cs typeface="Calibri" pitchFamily="34" charset="-120"/>
              </a:rPr>
              <a:t>15%</a:t>
            </a:r>
            <a:endParaRPr lang="en-US" sz="2800" dirty="0"/>
          </a:p>
        </p:txBody>
      </p:sp>
      <p:sp>
        <p:nvSpPr>
          <p:cNvPr id="22" name="Text 20"/>
          <p:cNvSpPr/>
          <p:nvPr/>
        </p:nvSpPr>
        <p:spPr>
          <a:xfrm>
            <a:off x="4617720" y="3611880"/>
            <a:ext cx="20116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Temporal</a:t>
            </a:r>
            <a:endParaRPr lang="en-US" sz="1200" dirty="0"/>
          </a:p>
        </p:txBody>
      </p:sp>
      <p:sp>
        <p:nvSpPr>
          <p:cNvPr id="23" name="Text 21"/>
          <p:cNvSpPr/>
          <p:nvPr/>
        </p:nvSpPr>
        <p:spPr>
          <a:xfrm>
            <a:off x="4690872" y="3913632"/>
            <a:ext cx="1874520" cy="548640"/>
          </a:xfrm>
          <a:prstGeom prst="rect">
            <a:avLst/>
          </a:prstGeom>
          <a:noFill/>
          <a:ln/>
        </p:spPr>
        <p:txBody>
          <a:bodyPr wrap="square" rtlCol="0" anchor="ctr"/>
          <a:lstStyle/>
          <a:p>
            <a:pPr marL="0" indent="0" algn="ctr">
              <a:buNone/>
            </a:pPr>
            <a:r>
              <a:rPr lang="en-US" sz="1000" dirty="0">
                <a:solidFill>
                  <a:srgbClr val="4E6E8A"/>
                </a:solidFill>
                <a:latin typeface="Calibri" pitchFamily="34" charset="0"/>
                <a:ea typeface="Calibri" pitchFamily="34" charset="-122"/>
                <a:cs typeface="Calibri" pitchFamily="34" charset="-120"/>
              </a:rPr>
              <a:t>News domain recency requirement</a:t>
            </a:r>
            <a:endParaRPr lang="en-US" sz="1000" dirty="0"/>
          </a:p>
        </p:txBody>
      </p:sp>
      <p:sp>
        <p:nvSpPr>
          <p:cNvPr id="24" name="Shape 22"/>
          <p:cNvSpPr/>
          <p:nvPr/>
        </p:nvSpPr>
        <p:spPr>
          <a:xfrm>
            <a:off x="6766560" y="2944368"/>
            <a:ext cx="2011680" cy="1627632"/>
          </a:xfrm>
          <a:prstGeom prst="rect">
            <a:avLst/>
          </a:prstGeom>
          <a:solidFill>
            <a:srgbClr val="152338"/>
          </a:solidFill>
          <a:ln w="12700">
            <a:solidFill>
              <a:srgbClr val="152338"/>
            </a:solidFill>
            <a:prstDash val="solid"/>
          </a:ln>
        </p:spPr>
        <p:txBody>
          <a:bodyPr/>
          <a:lstStyle/>
          <a:p>
            <a:endParaRPr lang="en-IN"/>
          </a:p>
        </p:txBody>
      </p:sp>
      <p:sp>
        <p:nvSpPr>
          <p:cNvPr id="25" name="Shape 23"/>
          <p:cNvSpPr/>
          <p:nvPr/>
        </p:nvSpPr>
        <p:spPr>
          <a:xfrm>
            <a:off x="6766560" y="2944368"/>
            <a:ext cx="2011680" cy="64008"/>
          </a:xfrm>
          <a:prstGeom prst="rect">
            <a:avLst/>
          </a:prstGeom>
          <a:solidFill>
            <a:srgbClr val="FF6464"/>
          </a:solidFill>
          <a:ln w="12700">
            <a:solidFill>
              <a:srgbClr val="FF6464"/>
            </a:solidFill>
            <a:prstDash val="solid"/>
          </a:ln>
        </p:spPr>
        <p:txBody>
          <a:bodyPr/>
          <a:lstStyle/>
          <a:p>
            <a:endParaRPr lang="en-IN"/>
          </a:p>
        </p:txBody>
      </p:sp>
      <p:sp>
        <p:nvSpPr>
          <p:cNvPr id="26" name="Text 24"/>
          <p:cNvSpPr/>
          <p:nvPr/>
        </p:nvSpPr>
        <p:spPr>
          <a:xfrm>
            <a:off x="6766560" y="3017520"/>
            <a:ext cx="2011680" cy="594360"/>
          </a:xfrm>
          <a:prstGeom prst="rect">
            <a:avLst/>
          </a:prstGeom>
          <a:noFill/>
          <a:ln/>
        </p:spPr>
        <p:txBody>
          <a:bodyPr wrap="square" rtlCol="0" anchor="ctr"/>
          <a:lstStyle/>
          <a:p>
            <a:pPr marL="0" indent="0" algn="ctr">
              <a:buNone/>
            </a:pPr>
            <a:r>
              <a:rPr lang="en-US" sz="2800" b="1" dirty="0">
                <a:solidFill>
                  <a:srgbClr val="FF6464"/>
                </a:solidFill>
                <a:latin typeface="Calibri" pitchFamily="34" charset="0"/>
                <a:ea typeface="Calibri" pitchFamily="34" charset="-122"/>
                <a:cs typeface="Calibri" pitchFamily="34" charset="-120"/>
              </a:rPr>
              <a:t>10%</a:t>
            </a:r>
            <a:endParaRPr lang="en-US" sz="2800" dirty="0"/>
          </a:p>
        </p:txBody>
      </p:sp>
      <p:sp>
        <p:nvSpPr>
          <p:cNvPr id="27" name="Text 25"/>
          <p:cNvSpPr/>
          <p:nvPr/>
        </p:nvSpPr>
        <p:spPr>
          <a:xfrm>
            <a:off x="6766560" y="3611880"/>
            <a:ext cx="201168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Authority</a:t>
            </a:r>
            <a:endParaRPr lang="en-US" sz="1200" dirty="0"/>
          </a:p>
        </p:txBody>
      </p:sp>
      <p:sp>
        <p:nvSpPr>
          <p:cNvPr id="28" name="Text 26"/>
          <p:cNvSpPr/>
          <p:nvPr/>
        </p:nvSpPr>
        <p:spPr>
          <a:xfrm>
            <a:off x="6839712" y="3913632"/>
            <a:ext cx="1874520" cy="548640"/>
          </a:xfrm>
          <a:prstGeom prst="rect">
            <a:avLst/>
          </a:prstGeom>
          <a:noFill/>
          <a:ln/>
        </p:spPr>
        <p:txBody>
          <a:bodyPr wrap="square" rtlCol="0" anchor="ctr"/>
          <a:lstStyle/>
          <a:p>
            <a:pPr marL="0" indent="0" algn="ctr">
              <a:buNone/>
            </a:pPr>
            <a:r>
              <a:rPr lang="en-US" sz="1000" dirty="0">
                <a:solidFill>
                  <a:srgbClr val="4E6E8A"/>
                </a:solidFill>
                <a:latin typeface="Calibri" pitchFamily="34" charset="0"/>
                <a:ea typeface="Calibri" pitchFamily="34" charset="-122"/>
                <a:cs typeface="Calibri" pitchFamily="34" charset="-120"/>
              </a:rPr>
              <a:t>Tiebreaker — source credibility</a:t>
            </a:r>
            <a:endParaRPr lang="en-US" sz="1000" dirty="0"/>
          </a:p>
        </p:txBody>
      </p:sp>
      <p:sp>
        <p:nvSpPr>
          <p:cNvPr id="29" name="Text 27"/>
          <p:cNvSpPr/>
          <p:nvPr/>
        </p:nvSpPr>
        <p:spPr>
          <a:xfrm>
            <a:off x="320040" y="4681728"/>
            <a:ext cx="8503920" cy="320040"/>
          </a:xfrm>
          <a:prstGeom prst="rect">
            <a:avLst/>
          </a:prstGeom>
          <a:noFill/>
          <a:ln/>
        </p:spPr>
        <p:txBody>
          <a:bodyPr wrap="square" rtlCol="0" anchor="ctr"/>
          <a:lstStyle/>
          <a:p>
            <a:pPr marL="0" indent="0" algn="ctr">
              <a:buNone/>
            </a:pPr>
            <a:r>
              <a:rPr lang="en-US" sz="1000" i="1" dirty="0">
                <a:solidFill>
                  <a:srgbClr val="4E6E8A"/>
                </a:solidFill>
                <a:latin typeface="Calibri" pitchFamily="34" charset="0"/>
                <a:ea typeface="Calibri" pitchFamily="34" charset="-122"/>
                <a:cs typeface="Calibri" pitchFamily="34" charset="-120"/>
              </a:rPr>
              <a:t>All signals min-max normalised to [0,1] before combination  ·  BERT logits passed through sigmoid first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Streamlit Search Interface</a:t>
            </a:r>
            <a:endParaRPr lang="en-US" sz="2100" dirty="0"/>
          </a:p>
        </p:txBody>
      </p:sp>
      <p:sp>
        <p:nvSpPr>
          <p:cNvPr id="5" name="Shape 3"/>
          <p:cNvSpPr/>
          <p:nvPr/>
        </p:nvSpPr>
        <p:spPr>
          <a:xfrm>
            <a:off x="320040" y="658368"/>
            <a:ext cx="5760720" cy="4206240"/>
          </a:xfrm>
          <a:prstGeom prst="rect">
            <a:avLst/>
          </a:prstGeom>
          <a:solidFill>
            <a:srgbClr val="152338"/>
          </a:solidFill>
          <a:ln w="12700">
            <a:solidFill>
              <a:srgbClr val="152338"/>
            </a:solidFill>
            <a:prstDash val="solid"/>
          </a:ln>
        </p:spPr>
        <p:txBody>
          <a:bodyPr/>
          <a:lstStyle/>
          <a:p>
            <a:endParaRPr lang="en-IN"/>
          </a:p>
        </p:txBody>
      </p:sp>
      <p:sp>
        <p:nvSpPr>
          <p:cNvPr id="6" name="Text 4"/>
          <p:cNvSpPr/>
          <p:nvPr/>
        </p:nvSpPr>
        <p:spPr>
          <a:xfrm>
            <a:off x="411480" y="749808"/>
            <a:ext cx="5577840" cy="4023360"/>
          </a:xfrm>
          <a:prstGeom prst="rect">
            <a:avLst/>
          </a:prstGeom>
          <a:noFill/>
          <a:ln/>
        </p:spPr>
        <p:txBody>
          <a:bodyPr wrap="square" rtlCol="0" anchor="ctr"/>
          <a:lstStyle/>
          <a:p>
            <a:pPr marL="0" indent="0" algn="ctr">
              <a:buNone/>
            </a:pPr>
            <a:r>
              <a:rPr lang="en-US" sz="1200" dirty="0">
                <a:solidFill>
                  <a:srgbClr val="4E6E8A"/>
                </a:solidFill>
                <a:latin typeface="Calibri" pitchFamily="34" charset="0"/>
                <a:ea typeface="Calibri" pitchFamily="34" charset="-122"/>
                <a:cs typeface="Calibri" pitchFamily="34" charset="-120"/>
              </a:rPr>
              <a:t>[Screenshot 5: Streamlit app — query entered and results showing, score breakdown table expanded on one result card]</a:t>
            </a:r>
            <a:endParaRPr lang="en-US" sz="1200" dirty="0"/>
          </a:p>
        </p:txBody>
      </p:sp>
      <p:sp>
        <p:nvSpPr>
          <p:cNvPr id="7" name="Shape 5"/>
          <p:cNvSpPr/>
          <p:nvPr/>
        </p:nvSpPr>
        <p:spPr>
          <a:xfrm>
            <a:off x="6263640" y="658368"/>
            <a:ext cx="2560320" cy="914400"/>
          </a:xfrm>
          <a:prstGeom prst="rect">
            <a:avLst/>
          </a:prstGeom>
          <a:solidFill>
            <a:srgbClr val="1C3052"/>
          </a:solidFill>
          <a:ln w="12700">
            <a:solidFill>
              <a:srgbClr val="1C3052"/>
            </a:solidFill>
            <a:prstDash val="solid"/>
          </a:ln>
        </p:spPr>
        <p:txBody>
          <a:bodyPr/>
          <a:lstStyle/>
          <a:p>
            <a:endParaRPr lang="en-IN"/>
          </a:p>
        </p:txBody>
      </p:sp>
      <p:sp>
        <p:nvSpPr>
          <p:cNvPr id="8" name="Shape 6"/>
          <p:cNvSpPr/>
          <p:nvPr/>
        </p:nvSpPr>
        <p:spPr>
          <a:xfrm>
            <a:off x="6263640" y="658368"/>
            <a:ext cx="64008" cy="914400"/>
          </a:xfrm>
          <a:prstGeom prst="rect">
            <a:avLst/>
          </a:prstGeom>
          <a:solidFill>
            <a:srgbClr val="4A9EFF"/>
          </a:solidFill>
          <a:ln w="12700">
            <a:solidFill>
              <a:srgbClr val="4A9EFF"/>
            </a:solidFill>
            <a:prstDash val="solid"/>
          </a:ln>
        </p:spPr>
        <p:txBody>
          <a:bodyPr/>
          <a:lstStyle/>
          <a:p>
            <a:endParaRPr lang="en-IN"/>
          </a:p>
        </p:txBody>
      </p:sp>
      <p:sp>
        <p:nvSpPr>
          <p:cNvPr id="9" name="Text 7"/>
          <p:cNvSpPr/>
          <p:nvPr/>
        </p:nvSpPr>
        <p:spPr>
          <a:xfrm>
            <a:off x="6446520" y="731520"/>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Mode Toggle</a:t>
            </a:r>
            <a:endParaRPr lang="en-US" sz="1200" dirty="0"/>
          </a:p>
        </p:txBody>
      </p:sp>
      <p:sp>
        <p:nvSpPr>
          <p:cNvPr id="10" name="Text 8"/>
          <p:cNvSpPr/>
          <p:nvPr/>
        </p:nvSpPr>
        <p:spPr>
          <a:xfrm>
            <a:off x="6446520" y="1115568"/>
            <a:ext cx="2286000" cy="365760"/>
          </a:xfrm>
          <a:prstGeom prst="rect">
            <a:avLst/>
          </a:prstGeom>
          <a:noFill/>
          <a:ln/>
        </p:spPr>
        <p:txBody>
          <a:bodyPr wrap="square" rtlCol="0" anchor="ctr"/>
          <a:lstStyle/>
          <a:p>
            <a:pPr marL="0" indent="0">
              <a:buNone/>
            </a:pPr>
            <a:r>
              <a:rPr lang="en-US" sz="1000" dirty="0">
                <a:solidFill>
                  <a:srgbClr val="4E6E8A"/>
                </a:solidFill>
                <a:latin typeface="Calibri" pitchFamily="34" charset="0"/>
                <a:ea typeface="Calibri" pitchFamily="34" charset="-122"/>
                <a:cs typeface="Calibri" pitchFamily="34" charset="-120"/>
              </a:rPr>
              <a:t>BM25F-only vs Full Hybrid switch</a:t>
            </a:r>
            <a:endParaRPr lang="en-US" sz="1000" dirty="0"/>
          </a:p>
        </p:txBody>
      </p:sp>
      <p:sp>
        <p:nvSpPr>
          <p:cNvPr id="11" name="Shape 9"/>
          <p:cNvSpPr/>
          <p:nvPr/>
        </p:nvSpPr>
        <p:spPr>
          <a:xfrm>
            <a:off x="6263640" y="1682496"/>
            <a:ext cx="2560320" cy="914400"/>
          </a:xfrm>
          <a:prstGeom prst="rect">
            <a:avLst/>
          </a:prstGeom>
          <a:solidFill>
            <a:srgbClr val="1C3052"/>
          </a:solidFill>
          <a:ln w="12700">
            <a:solidFill>
              <a:srgbClr val="1C3052"/>
            </a:solidFill>
            <a:prstDash val="solid"/>
          </a:ln>
        </p:spPr>
        <p:txBody>
          <a:bodyPr/>
          <a:lstStyle/>
          <a:p>
            <a:endParaRPr lang="en-IN"/>
          </a:p>
        </p:txBody>
      </p:sp>
      <p:sp>
        <p:nvSpPr>
          <p:cNvPr id="12" name="Shape 10"/>
          <p:cNvSpPr/>
          <p:nvPr/>
        </p:nvSpPr>
        <p:spPr>
          <a:xfrm>
            <a:off x="6263640" y="1682496"/>
            <a:ext cx="64008" cy="914400"/>
          </a:xfrm>
          <a:prstGeom prst="rect">
            <a:avLst/>
          </a:prstGeom>
          <a:solidFill>
            <a:srgbClr val="2EC4A0"/>
          </a:solidFill>
          <a:ln w="12700">
            <a:solidFill>
              <a:srgbClr val="2EC4A0"/>
            </a:solidFill>
            <a:prstDash val="solid"/>
          </a:ln>
        </p:spPr>
        <p:txBody>
          <a:bodyPr/>
          <a:lstStyle/>
          <a:p>
            <a:endParaRPr lang="en-IN"/>
          </a:p>
        </p:txBody>
      </p:sp>
      <p:sp>
        <p:nvSpPr>
          <p:cNvPr id="13" name="Text 11"/>
          <p:cNvSpPr/>
          <p:nvPr/>
        </p:nvSpPr>
        <p:spPr>
          <a:xfrm>
            <a:off x="6446520" y="1755648"/>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Sample Queries</a:t>
            </a:r>
            <a:endParaRPr lang="en-US" sz="1200" dirty="0"/>
          </a:p>
        </p:txBody>
      </p:sp>
      <p:sp>
        <p:nvSpPr>
          <p:cNvPr id="14" name="Text 12"/>
          <p:cNvSpPr/>
          <p:nvPr/>
        </p:nvSpPr>
        <p:spPr>
          <a:xfrm>
            <a:off x="6446520" y="2139696"/>
            <a:ext cx="2286000" cy="365760"/>
          </a:xfrm>
          <a:prstGeom prst="rect">
            <a:avLst/>
          </a:prstGeom>
          <a:noFill/>
          <a:ln/>
        </p:spPr>
        <p:txBody>
          <a:bodyPr wrap="square" rtlCol="0" anchor="ctr"/>
          <a:lstStyle/>
          <a:p>
            <a:pPr marL="0" indent="0">
              <a:buNone/>
            </a:pPr>
            <a:r>
              <a:rPr lang="en-US" sz="1000" dirty="0">
                <a:solidFill>
                  <a:srgbClr val="4E6E8A"/>
                </a:solidFill>
                <a:latin typeface="Calibri" pitchFamily="34" charset="0"/>
                <a:ea typeface="Calibri" pitchFamily="34" charset="-122"/>
                <a:cs typeface="Calibri" pitchFamily="34" charset="-120"/>
              </a:rPr>
              <a:t>Sidebar — corpus-matched queries</a:t>
            </a:r>
            <a:endParaRPr lang="en-US" sz="1000" dirty="0"/>
          </a:p>
        </p:txBody>
      </p:sp>
      <p:sp>
        <p:nvSpPr>
          <p:cNvPr id="15" name="Shape 13"/>
          <p:cNvSpPr/>
          <p:nvPr/>
        </p:nvSpPr>
        <p:spPr>
          <a:xfrm>
            <a:off x="6263640" y="2706624"/>
            <a:ext cx="2560320" cy="914400"/>
          </a:xfrm>
          <a:prstGeom prst="rect">
            <a:avLst/>
          </a:prstGeom>
          <a:solidFill>
            <a:srgbClr val="1C3052"/>
          </a:solidFill>
          <a:ln w="12700">
            <a:solidFill>
              <a:srgbClr val="1C3052"/>
            </a:solidFill>
            <a:prstDash val="solid"/>
          </a:ln>
        </p:spPr>
        <p:txBody>
          <a:bodyPr/>
          <a:lstStyle/>
          <a:p>
            <a:endParaRPr lang="en-IN"/>
          </a:p>
        </p:txBody>
      </p:sp>
      <p:sp>
        <p:nvSpPr>
          <p:cNvPr id="16" name="Shape 14"/>
          <p:cNvSpPr/>
          <p:nvPr/>
        </p:nvSpPr>
        <p:spPr>
          <a:xfrm>
            <a:off x="6263640" y="2706624"/>
            <a:ext cx="64008" cy="914400"/>
          </a:xfrm>
          <a:prstGeom prst="rect">
            <a:avLst/>
          </a:prstGeom>
          <a:solidFill>
            <a:srgbClr val="F5A623"/>
          </a:solidFill>
          <a:ln w="12700">
            <a:solidFill>
              <a:srgbClr val="F5A623"/>
            </a:solidFill>
            <a:prstDash val="solid"/>
          </a:ln>
        </p:spPr>
        <p:txBody>
          <a:bodyPr/>
          <a:lstStyle/>
          <a:p>
            <a:endParaRPr lang="en-IN"/>
          </a:p>
        </p:txBody>
      </p:sp>
      <p:sp>
        <p:nvSpPr>
          <p:cNvPr id="17" name="Text 15"/>
          <p:cNvSpPr/>
          <p:nvPr/>
        </p:nvSpPr>
        <p:spPr>
          <a:xfrm>
            <a:off x="6446520" y="2779776"/>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Final Score</a:t>
            </a:r>
            <a:endParaRPr lang="en-US" sz="1200" dirty="0"/>
          </a:p>
        </p:txBody>
      </p:sp>
      <p:sp>
        <p:nvSpPr>
          <p:cNvPr id="18" name="Text 16"/>
          <p:cNvSpPr/>
          <p:nvPr/>
        </p:nvSpPr>
        <p:spPr>
          <a:xfrm>
            <a:off x="6446520" y="3163824"/>
            <a:ext cx="2286000" cy="365760"/>
          </a:xfrm>
          <a:prstGeom prst="rect">
            <a:avLst/>
          </a:prstGeom>
          <a:noFill/>
          <a:ln/>
        </p:spPr>
        <p:txBody>
          <a:bodyPr wrap="square" rtlCol="0" anchor="ctr"/>
          <a:lstStyle/>
          <a:p>
            <a:pPr marL="0" indent="0">
              <a:buNone/>
            </a:pPr>
            <a:r>
              <a:rPr lang="en-US" sz="1000" dirty="0">
                <a:solidFill>
                  <a:srgbClr val="4E6E8A"/>
                </a:solidFill>
                <a:latin typeface="Calibri" pitchFamily="34" charset="0"/>
                <a:ea typeface="Calibri" pitchFamily="34" charset="-122"/>
                <a:cs typeface="Calibri" pitchFamily="34" charset="-120"/>
              </a:rPr>
              <a:t>Always visible on every result card</a:t>
            </a:r>
            <a:endParaRPr lang="en-US" sz="1000" dirty="0"/>
          </a:p>
        </p:txBody>
      </p:sp>
      <p:sp>
        <p:nvSpPr>
          <p:cNvPr id="19" name="Shape 17"/>
          <p:cNvSpPr/>
          <p:nvPr/>
        </p:nvSpPr>
        <p:spPr>
          <a:xfrm>
            <a:off x="6263640" y="3730752"/>
            <a:ext cx="2560320" cy="914400"/>
          </a:xfrm>
          <a:prstGeom prst="rect">
            <a:avLst/>
          </a:prstGeom>
          <a:solidFill>
            <a:srgbClr val="1C3052"/>
          </a:solidFill>
          <a:ln w="12700">
            <a:solidFill>
              <a:srgbClr val="1C3052"/>
            </a:solidFill>
            <a:prstDash val="solid"/>
          </a:ln>
        </p:spPr>
        <p:txBody>
          <a:bodyPr/>
          <a:lstStyle/>
          <a:p>
            <a:endParaRPr lang="en-IN"/>
          </a:p>
        </p:txBody>
      </p:sp>
      <p:sp>
        <p:nvSpPr>
          <p:cNvPr id="20" name="Shape 18"/>
          <p:cNvSpPr/>
          <p:nvPr/>
        </p:nvSpPr>
        <p:spPr>
          <a:xfrm>
            <a:off x="6263640" y="3730752"/>
            <a:ext cx="64008" cy="914400"/>
          </a:xfrm>
          <a:prstGeom prst="rect">
            <a:avLst/>
          </a:prstGeom>
          <a:solidFill>
            <a:srgbClr val="FF6464"/>
          </a:solidFill>
          <a:ln w="12700">
            <a:solidFill>
              <a:srgbClr val="FF6464"/>
            </a:solidFill>
            <a:prstDash val="solid"/>
          </a:ln>
        </p:spPr>
        <p:txBody>
          <a:bodyPr/>
          <a:lstStyle/>
          <a:p>
            <a:endParaRPr lang="en-IN"/>
          </a:p>
        </p:txBody>
      </p:sp>
      <p:sp>
        <p:nvSpPr>
          <p:cNvPr id="21" name="Text 19"/>
          <p:cNvSpPr/>
          <p:nvPr/>
        </p:nvSpPr>
        <p:spPr>
          <a:xfrm>
            <a:off x="6446520" y="3803904"/>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Score Breakdown</a:t>
            </a:r>
            <a:endParaRPr lang="en-US" sz="1200" dirty="0"/>
          </a:p>
        </p:txBody>
      </p:sp>
      <p:sp>
        <p:nvSpPr>
          <p:cNvPr id="22" name="Text 20"/>
          <p:cNvSpPr/>
          <p:nvPr/>
        </p:nvSpPr>
        <p:spPr>
          <a:xfrm>
            <a:off x="6446520" y="4187952"/>
            <a:ext cx="2286000" cy="365760"/>
          </a:xfrm>
          <a:prstGeom prst="rect">
            <a:avLst/>
          </a:prstGeom>
          <a:noFill/>
          <a:ln/>
        </p:spPr>
        <p:txBody>
          <a:bodyPr wrap="square" rtlCol="0" anchor="ctr"/>
          <a:lstStyle/>
          <a:p>
            <a:pPr marL="0" indent="0">
              <a:buNone/>
            </a:pPr>
            <a:r>
              <a:rPr lang="en-US" sz="1000" dirty="0">
                <a:solidFill>
                  <a:srgbClr val="4E6E8A"/>
                </a:solidFill>
                <a:latin typeface="Calibri" pitchFamily="34" charset="0"/>
                <a:ea typeface="Calibri" pitchFamily="34" charset="-122"/>
                <a:cs typeface="Calibri" pitchFamily="34" charset="-120"/>
              </a:rPr>
              <a:t>Collapsible per-signal detail table</a:t>
            </a:r>
            <a:endParaRPr lang="en-US" sz="1000" dirty="0"/>
          </a:p>
        </p:txBody>
      </p:sp>
      <p:sp>
        <p:nvSpPr>
          <p:cNvPr id="23" name="Text 21"/>
          <p:cNvSpPr/>
          <p:nvPr/>
        </p:nvSpPr>
        <p:spPr>
          <a:xfrm>
            <a:off x="320040" y="4892040"/>
            <a:ext cx="8503920" cy="201168"/>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Built with Streamlit  ·  Python 3.13  ·  Anaconda environment</a:t>
            </a:r>
            <a:endParaRPr lang="en-US" sz="900" dirty="0"/>
          </a:p>
        </p:txBody>
      </p:sp>
      <p:pic>
        <p:nvPicPr>
          <p:cNvPr id="25" name="Picture 24">
            <a:extLst>
              <a:ext uri="{FF2B5EF4-FFF2-40B4-BE49-F238E27FC236}">
                <a16:creationId xmlns:a16="http://schemas.microsoft.com/office/drawing/2014/main" id="{B3554808-3BBC-89B9-9C2D-E359F56197D3}"/>
              </a:ext>
            </a:extLst>
          </p:cNvPr>
          <p:cNvPicPr>
            <a:picLocks noChangeAspect="1"/>
          </p:cNvPicPr>
          <p:nvPr/>
        </p:nvPicPr>
        <p:blipFill>
          <a:blip r:embed="rId3"/>
          <a:srcRect t="16172" r="14972" b="4383"/>
          <a:stretch>
            <a:fillRect/>
          </a:stretch>
        </p:blipFill>
        <p:spPr>
          <a:xfrm>
            <a:off x="926199" y="666918"/>
            <a:ext cx="6896345" cy="3978234"/>
          </a:xfrm>
          <a:prstGeom prst="rect">
            <a:avLst/>
          </a:prstGeom>
          <a:ln>
            <a:solidFill>
              <a:schemeClr val="bg1"/>
            </a:solidFill>
          </a:ln>
          <a:effectLst>
            <a:outerShdw blurRad="292100" dist="139700" dir="2700000" algn="tl" rotWithShape="0">
              <a:srgbClr val="333333">
                <a:alpha val="65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E"/>
        </a:solidFill>
        <a:effectLst/>
      </p:bgPr>
    </p:bg>
    <p:spTree>
      <p:nvGrpSpPr>
        <p:cNvPr id="1" name="">
          <a:extLst>
            <a:ext uri="{FF2B5EF4-FFF2-40B4-BE49-F238E27FC236}">
              <a16:creationId xmlns:a16="http://schemas.microsoft.com/office/drawing/2014/main" id="{BB6AE512-5FA4-BB0C-DB2C-0862FE89B52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7EA0970-E4D5-FED4-1E51-5B3B279D8FED}"/>
              </a:ext>
            </a:extLst>
          </p:cNvPr>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a:extLst>
              <a:ext uri="{FF2B5EF4-FFF2-40B4-BE49-F238E27FC236}">
                <a16:creationId xmlns:a16="http://schemas.microsoft.com/office/drawing/2014/main" id="{3C8DDF3C-82B3-31DB-F625-EF5B9A8A31EC}"/>
              </a:ext>
            </a:extLst>
          </p:cNvPr>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a:extLst>
              <a:ext uri="{FF2B5EF4-FFF2-40B4-BE49-F238E27FC236}">
                <a16:creationId xmlns:a16="http://schemas.microsoft.com/office/drawing/2014/main" id="{3479F979-50A9-73CB-2F24-6C5235A13DF3}"/>
              </a:ext>
            </a:extLst>
          </p:cNvPr>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Streamlit Search Interface</a:t>
            </a:r>
            <a:endParaRPr lang="en-US" sz="2100" dirty="0"/>
          </a:p>
        </p:txBody>
      </p:sp>
      <p:sp>
        <p:nvSpPr>
          <p:cNvPr id="5" name="Shape 3">
            <a:extLst>
              <a:ext uri="{FF2B5EF4-FFF2-40B4-BE49-F238E27FC236}">
                <a16:creationId xmlns:a16="http://schemas.microsoft.com/office/drawing/2014/main" id="{75B24D00-18B4-55E7-ED73-E820AA669206}"/>
              </a:ext>
            </a:extLst>
          </p:cNvPr>
          <p:cNvSpPr/>
          <p:nvPr/>
        </p:nvSpPr>
        <p:spPr>
          <a:xfrm>
            <a:off x="320040" y="658368"/>
            <a:ext cx="5760720" cy="4206240"/>
          </a:xfrm>
          <a:prstGeom prst="rect">
            <a:avLst/>
          </a:prstGeom>
          <a:solidFill>
            <a:srgbClr val="152338"/>
          </a:solidFill>
          <a:ln w="12700">
            <a:solidFill>
              <a:srgbClr val="152338"/>
            </a:solidFill>
            <a:prstDash val="solid"/>
          </a:ln>
        </p:spPr>
        <p:txBody>
          <a:bodyPr/>
          <a:lstStyle/>
          <a:p>
            <a:endParaRPr lang="en-IN"/>
          </a:p>
        </p:txBody>
      </p:sp>
      <p:sp>
        <p:nvSpPr>
          <p:cNvPr id="6" name="Text 4">
            <a:extLst>
              <a:ext uri="{FF2B5EF4-FFF2-40B4-BE49-F238E27FC236}">
                <a16:creationId xmlns:a16="http://schemas.microsoft.com/office/drawing/2014/main" id="{0288B3E4-CC7D-93B0-B0A6-BF06AAC39327}"/>
              </a:ext>
            </a:extLst>
          </p:cNvPr>
          <p:cNvSpPr/>
          <p:nvPr/>
        </p:nvSpPr>
        <p:spPr>
          <a:xfrm>
            <a:off x="411480" y="749808"/>
            <a:ext cx="5577840" cy="4023360"/>
          </a:xfrm>
          <a:prstGeom prst="rect">
            <a:avLst/>
          </a:prstGeom>
          <a:noFill/>
          <a:ln/>
        </p:spPr>
        <p:txBody>
          <a:bodyPr wrap="square" rtlCol="0" anchor="ctr"/>
          <a:lstStyle/>
          <a:p>
            <a:pPr marL="0" indent="0" algn="ctr">
              <a:buNone/>
            </a:pPr>
            <a:endParaRPr lang="en-US" sz="1200" dirty="0"/>
          </a:p>
        </p:txBody>
      </p:sp>
      <p:sp>
        <p:nvSpPr>
          <p:cNvPr id="7" name="Shape 5">
            <a:extLst>
              <a:ext uri="{FF2B5EF4-FFF2-40B4-BE49-F238E27FC236}">
                <a16:creationId xmlns:a16="http://schemas.microsoft.com/office/drawing/2014/main" id="{449E4699-2311-750E-8FE3-D1D37D93814A}"/>
              </a:ext>
            </a:extLst>
          </p:cNvPr>
          <p:cNvSpPr/>
          <p:nvPr/>
        </p:nvSpPr>
        <p:spPr>
          <a:xfrm>
            <a:off x="6263640" y="658368"/>
            <a:ext cx="2560320" cy="914400"/>
          </a:xfrm>
          <a:prstGeom prst="rect">
            <a:avLst/>
          </a:prstGeom>
          <a:solidFill>
            <a:srgbClr val="1C3052"/>
          </a:solidFill>
          <a:ln w="12700">
            <a:solidFill>
              <a:srgbClr val="1C3052"/>
            </a:solidFill>
            <a:prstDash val="solid"/>
          </a:ln>
        </p:spPr>
        <p:txBody>
          <a:bodyPr/>
          <a:lstStyle/>
          <a:p>
            <a:endParaRPr lang="en-IN"/>
          </a:p>
        </p:txBody>
      </p:sp>
      <p:sp>
        <p:nvSpPr>
          <p:cNvPr id="8" name="Shape 6">
            <a:extLst>
              <a:ext uri="{FF2B5EF4-FFF2-40B4-BE49-F238E27FC236}">
                <a16:creationId xmlns:a16="http://schemas.microsoft.com/office/drawing/2014/main" id="{EA6875C5-6F32-8C58-2199-70A29619EFDD}"/>
              </a:ext>
            </a:extLst>
          </p:cNvPr>
          <p:cNvSpPr/>
          <p:nvPr/>
        </p:nvSpPr>
        <p:spPr>
          <a:xfrm>
            <a:off x="6263640" y="658368"/>
            <a:ext cx="64008" cy="914400"/>
          </a:xfrm>
          <a:prstGeom prst="rect">
            <a:avLst/>
          </a:prstGeom>
          <a:solidFill>
            <a:srgbClr val="4A9EFF"/>
          </a:solidFill>
          <a:ln w="12700">
            <a:solidFill>
              <a:srgbClr val="4A9EFF"/>
            </a:solidFill>
            <a:prstDash val="solid"/>
          </a:ln>
        </p:spPr>
        <p:txBody>
          <a:bodyPr/>
          <a:lstStyle/>
          <a:p>
            <a:endParaRPr lang="en-IN"/>
          </a:p>
        </p:txBody>
      </p:sp>
      <p:sp>
        <p:nvSpPr>
          <p:cNvPr id="9" name="Text 7">
            <a:extLst>
              <a:ext uri="{FF2B5EF4-FFF2-40B4-BE49-F238E27FC236}">
                <a16:creationId xmlns:a16="http://schemas.microsoft.com/office/drawing/2014/main" id="{CA3859B5-4FF4-A976-90E4-4626A08BC8BD}"/>
              </a:ext>
            </a:extLst>
          </p:cNvPr>
          <p:cNvSpPr/>
          <p:nvPr/>
        </p:nvSpPr>
        <p:spPr>
          <a:xfrm>
            <a:off x="6446520" y="731520"/>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Mode Toggle</a:t>
            </a:r>
            <a:endParaRPr lang="en-US" sz="1200" dirty="0"/>
          </a:p>
        </p:txBody>
      </p:sp>
      <p:sp>
        <p:nvSpPr>
          <p:cNvPr id="10" name="Text 8">
            <a:extLst>
              <a:ext uri="{FF2B5EF4-FFF2-40B4-BE49-F238E27FC236}">
                <a16:creationId xmlns:a16="http://schemas.microsoft.com/office/drawing/2014/main" id="{120431C9-115E-C528-FBC6-41C3F5F2595D}"/>
              </a:ext>
            </a:extLst>
          </p:cNvPr>
          <p:cNvSpPr/>
          <p:nvPr/>
        </p:nvSpPr>
        <p:spPr>
          <a:xfrm>
            <a:off x="6446520" y="1115568"/>
            <a:ext cx="2286000" cy="365760"/>
          </a:xfrm>
          <a:prstGeom prst="rect">
            <a:avLst/>
          </a:prstGeom>
          <a:noFill/>
          <a:ln/>
        </p:spPr>
        <p:txBody>
          <a:bodyPr wrap="square" rtlCol="0" anchor="ctr"/>
          <a:lstStyle/>
          <a:p>
            <a:pPr marL="0" indent="0">
              <a:buNone/>
            </a:pPr>
            <a:r>
              <a:rPr lang="en-US" sz="1000" dirty="0">
                <a:solidFill>
                  <a:srgbClr val="4E6E8A"/>
                </a:solidFill>
                <a:latin typeface="Calibri" pitchFamily="34" charset="0"/>
                <a:ea typeface="Calibri" pitchFamily="34" charset="-122"/>
                <a:cs typeface="Calibri" pitchFamily="34" charset="-120"/>
              </a:rPr>
              <a:t>BM25F-only vs Full Hybrid switch</a:t>
            </a:r>
            <a:endParaRPr lang="en-US" sz="1000" dirty="0"/>
          </a:p>
        </p:txBody>
      </p:sp>
      <p:sp>
        <p:nvSpPr>
          <p:cNvPr id="11" name="Shape 9">
            <a:extLst>
              <a:ext uri="{FF2B5EF4-FFF2-40B4-BE49-F238E27FC236}">
                <a16:creationId xmlns:a16="http://schemas.microsoft.com/office/drawing/2014/main" id="{4CB0260D-C7FE-7D7E-0435-F9D70A9156D3}"/>
              </a:ext>
            </a:extLst>
          </p:cNvPr>
          <p:cNvSpPr/>
          <p:nvPr/>
        </p:nvSpPr>
        <p:spPr>
          <a:xfrm>
            <a:off x="6263640" y="1682496"/>
            <a:ext cx="2560320" cy="914400"/>
          </a:xfrm>
          <a:prstGeom prst="rect">
            <a:avLst/>
          </a:prstGeom>
          <a:solidFill>
            <a:srgbClr val="1C3052"/>
          </a:solidFill>
          <a:ln w="12700">
            <a:solidFill>
              <a:srgbClr val="1C3052"/>
            </a:solidFill>
            <a:prstDash val="solid"/>
          </a:ln>
        </p:spPr>
        <p:txBody>
          <a:bodyPr/>
          <a:lstStyle/>
          <a:p>
            <a:endParaRPr lang="en-IN"/>
          </a:p>
        </p:txBody>
      </p:sp>
      <p:sp>
        <p:nvSpPr>
          <p:cNvPr id="12" name="Shape 10">
            <a:extLst>
              <a:ext uri="{FF2B5EF4-FFF2-40B4-BE49-F238E27FC236}">
                <a16:creationId xmlns:a16="http://schemas.microsoft.com/office/drawing/2014/main" id="{844D2E75-A202-2C87-4EB8-13A0AB170EAE}"/>
              </a:ext>
            </a:extLst>
          </p:cNvPr>
          <p:cNvSpPr/>
          <p:nvPr/>
        </p:nvSpPr>
        <p:spPr>
          <a:xfrm>
            <a:off x="6263640" y="1682496"/>
            <a:ext cx="64008" cy="914400"/>
          </a:xfrm>
          <a:prstGeom prst="rect">
            <a:avLst/>
          </a:prstGeom>
          <a:solidFill>
            <a:srgbClr val="92D050"/>
          </a:solidFill>
          <a:ln w="12700">
            <a:solidFill>
              <a:srgbClr val="92D050"/>
            </a:solidFill>
            <a:prstDash val="solid"/>
          </a:ln>
        </p:spPr>
        <p:txBody>
          <a:bodyPr/>
          <a:lstStyle/>
          <a:p>
            <a:endParaRPr lang="en-IN"/>
          </a:p>
        </p:txBody>
      </p:sp>
      <p:sp>
        <p:nvSpPr>
          <p:cNvPr id="13" name="Text 11">
            <a:extLst>
              <a:ext uri="{FF2B5EF4-FFF2-40B4-BE49-F238E27FC236}">
                <a16:creationId xmlns:a16="http://schemas.microsoft.com/office/drawing/2014/main" id="{768E89C6-1A42-9BE3-1E71-177310C749B3}"/>
              </a:ext>
            </a:extLst>
          </p:cNvPr>
          <p:cNvSpPr/>
          <p:nvPr/>
        </p:nvSpPr>
        <p:spPr>
          <a:xfrm>
            <a:off x="6446520" y="1755648"/>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Sample Queries</a:t>
            </a:r>
            <a:endParaRPr lang="en-US" sz="1200" dirty="0"/>
          </a:p>
        </p:txBody>
      </p:sp>
      <p:sp>
        <p:nvSpPr>
          <p:cNvPr id="14" name="Text 12">
            <a:extLst>
              <a:ext uri="{FF2B5EF4-FFF2-40B4-BE49-F238E27FC236}">
                <a16:creationId xmlns:a16="http://schemas.microsoft.com/office/drawing/2014/main" id="{900CA0D3-EC69-A67D-569C-08CFC20C5B79}"/>
              </a:ext>
            </a:extLst>
          </p:cNvPr>
          <p:cNvSpPr/>
          <p:nvPr/>
        </p:nvSpPr>
        <p:spPr>
          <a:xfrm>
            <a:off x="6446520" y="2139696"/>
            <a:ext cx="2286000" cy="365760"/>
          </a:xfrm>
          <a:prstGeom prst="rect">
            <a:avLst/>
          </a:prstGeom>
          <a:noFill/>
          <a:ln/>
        </p:spPr>
        <p:txBody>
          <a:bodyPr wrap="square" rtlCol="0" anchor="ctr"/>
          <a:lstStyle/>
          <a:p>
            <a:pPr marL="0" indent="0">
              <a:buNone/>
            </a:pPr>
            <a:r>
              <a:rPr lang="en-US" sz="1000" dirty="0">
                <a:solidFill>
                  <a:srgbClr val="4E6E8A"/>
                </a:solidFill>
                <a:latin typeface="Calibri" pitchFamily="34" charset="0"/>
                <a:ea typeface="Calibri" pitchFamily="34" charset="-122"/>
                <a:cs typeface="Calibri" pitchFamily="34" charset="-120"/>
              </a:rPr>
              <a:t>Sidebar — corpus-matched queries</a:t>
            </a:r>
            <a:endParaRPr lang="en-US" sz="1000" dirty="0"/>
          </a:p>
        </p:txBody>
      </p:sp>
      <p:sp>
        <p:nvSpPr>
          <p:cNvPr id="15" name="Shape 13">
            <a:extLst>
              <a:ext uri="{FF2B5EF4-FFF2-40B4-BE49-F238E27FC236}">
                <a16:creationId xmlns:a16="http://schemas.microsoft.com/office/drawing/2014/main" id="{F32E2C1E-52CB-283C-20D9-B1E38E5A8A81}"/>
              </a:ext>
            </a:extLst>
          </p:cNvPr>
          <p:cNvSpPr/>
          <p:nvPr/>
        </p:nvSpPr>
        <p:spPr>
          <a:xfrm>
            <a:off x="6263640" y="2706624"/>
            <a:ext cx="2560320" cy="914400"/>
          </a:xfrm>
          <a:prstGeom prst="rect">
            <a:avLst/>
          </a:prstGeom>
          <a:solidFill>
            <a:srgbClr val="1C3052"/>
          </a:solidFill>
          <a:ln w="12700">
            <a:solidFill>
              <a:srgbClr val="1C3052"/>
            </a:solidFill>
            <a:prstDash val="solid"/>
          </a:ln>
        </p:spPr>
        <p:txBody>
          <a:bodyPr/>
          <a:lstStyle/>
          <a:p>
            <a:endParaRPr lang="en-IN"/>
          </a:p>
        </p:txBody>
      </p:sp>
      <p:sp>
        <p:nvSpPr>
          <p:cNvPr id="16" name="Shape 14">
            <a:extLst>
              <a:ext uri="{FF2B5EF4-FFF2-40B4-BE49-F238E27FC236}">
                <a16:creationId xmlns:a16="http://schemas.microsoft.com/office/drawing/2014/main" id="{22A21478-4E80-5F4E-DE69-1C0263F58163}"/>
              </a:ext>
            </a:extLst>
          </p:cNvPr>
          <p:cNvSpPr/>
          <p:nvPr/>
        </p:nvSpPr>
        <p:spPr>
          <a:xfrm>
            <a:off x="6263640" y="2706624"/>
            <a:ext cx="64008" cy="914400"/>
          </a:xfrm>
          <a:prstGeom prst="rect">
            <a:avLst/>
          </a:prstGeom>
          <a:solidFill>
            <a:srgbClr val="F5A623"/>
          </a:solidFill>
          <a:ln w="12700">
            <a:solidFill>
              <a:srgbClr val="F5A623"/>
            </a:solidFill>
            <a:prstDash val="solid"/>
          </a:ln>
        </p:spPr>
        <p:txBody>
          <a:bodyPr/>
          <a:lstStyle/>
          <a:p>
            <a:endParaRPr lang="en-IN"/>
          </a:p>
        </p:txBody>
      </p:sp>
      <p:sp>
        <p:nvSpPr>
          <p:cNvPr id="17" name="Text 15">
            <a:extLst>
              <a:ext uri="{FF2B5EF4-FFF2-40B4-BE49-F238E27FC236}">
                <a16:creationId xmlns:a16="http://schemas.microsoft.com/office/drawing/2014/main" id="{101E7435-A6BA-E04B-9165-BE40121803B6}"/>
              </a:ext>
            </a:extLst>
          </p:cNvPr>
          <p:cNvSpPr/>
          <p:nvPr/>
        </p:nvSpPr>
        <p:spPr>
          <a:xfrm>
            <a:off x="6446520" y="2779776"/>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Final Score</a:t>
            </a:r>
            <a:endParaRPr lang="en-US" sz="1200" dirty="0"/>
          </a:p>
        </p:txBody>
      </p:sp>
      <p:sp>
        <p:nvSpPr>
          <p:cNvPr id="18" name="Text 16">
            <a:extLst>
              <a:ext uri="{FF2B5EF4-FFF2-40B4-BE49-F238E27FC236}">
                <a16:creationId xmlns:a16="http://schemas.microsoft.com/office/drawing/2014/main" id="{B5DC2C77-D560-567A-1341-003830756E21}"/>
              </a:ext>
            </a:extLst>
          </p:cNvPr>
          <p:cNvSpPr/>
          <p:nvPr/>
        </p:nvSpPr>
        <p:spPr>
          <a:xfrm>
            <a:off x="6446520" y="3163824"/>
            <a:ext cx="2286000" cy="365760"/>
          </a:xfrm>
          <a:prstGeom prst="rect">
            <a:avLst/>
          </a:prstGeom>
          <a:noFill/>
          <a:ln/>
        </p:spPr>
        <p:txBody>
          <a:bodyPr wrap="square" rtlCol="0" anchor="ctr"/>
          <a:lstStyle/>
          <a:p>
            <a:pPr marL="0" indent="0">
              <a:buNone/>
            </a:pPr>
            <a:r>
              <a:rPr lang="en-US" sz="1000" dirty="0">
                <a:solidFill>
                  <a:srgbClr val="4E6E8A"/>
                </a:solidFill>
                <a:latin typeface="Calibri" pitchFamily="34" charset="0"/>
                <a:ea typeface="Calibri" pitchFamily="34" charset="-122"/>
                <a:cs typeface="Calibri" pitchFamily="34" charset="-120"/>
              </a:rPr>
              <a:t>Always visible on every result card</a:t>
            </a:r>
            <a:endParaRPr lang="en-US" sz="1000" dirty="0"/>
          </a:p>
        </p:txBody>
      </p:sp>
      <p:sp>
        <p:nvSpPr>
          <p:cNvPr id="19" name="Shape 17">
            <a:extLst>
              <a:ext uri="{FF2B5EF4-FFF2-40B4-BE49-F238E27FC236}">
                <a16:creationId xmlns:a16="http://schemas.microsoft.com/office/drawing/2014/main" id="{182B2E73-3E38-7132-BAC2-7C9FF1347C94}"/>
              </a:ext>
            </a:extLst>
          </p:cNvPr>
          <p:cNvSpPr/>
          <p:nvPr/>
        </p:nvSpPr>
        <p:spPr>
          <a:xfrm>
            <a:off x="6263640" y="3730752"/>
            <a:ext cx="2560320" cy="914400"/>
          </a:xfrm>
          <a:prstGeom prst="rect">
            <a:avLst/>
          </a:prstGeom>
          <a:solidFill>
            <a:srgbClr val="1C3052"/>
          </a:solidFill>
          <a:ln w="12700">
            <a:solidFill>
              <a:srgbClr val="1C3052"/>
            </a:solidFill>
            <a:prstDash val="solid"/>
          </a:ln>
        </p:spPr>
        <p:txBody>
          <a:bodyPr/>
          <a:lstStyle/>
          <a:p>
            <a:endParaRPr lang="en-IN"/>
          </a:p>
        </p:txBody>
      </p:sp>
      <p:sp>
        <p:nvSpPr>
          <p:cNvPr id="20" name="Shape 18">
            <a:extLst>
              <a:ext uri="{FF2B5EF4-FFF2-40B4-BE49-F238E27FC236}">
                <a16:creationId xmlns:a16="http://schemas.microsoft.com/office/drawing/2014/main" id="{A35EA0C3-DB29-FEDB-A1F5-3FDBA98C09AA}"/>
              </a:ext>
            </a:extLst>
          </p:cNvPr>
          <p:cNvSpPr/>
          <p:nvPr/>
        </p:nvSpPr>
        <p:spPr>
          <a:xfrm>
            <a:off x="6263640" y="3730752"/>
            <a:ext cx="64008" cy="914400"/>
          </a:xfrm>
          <a:prstGeom prst="rect">
            <a:avLst/>
          </a:prstGeom>
          <a:solidFill>
            <a:srgbClr val="FF6464"/>
          </a:solidFill>
          <a:ln w="12700">
            <a:solidFill>
              <a:srgbClr val="FF6464"/>
            </a:solidFill>
            <a:prstDash val="solid"/>
          </a:ln>
        </p:spPr>
        <p:txBody>
          <a:bodyPr/>
          <a:lstStyle/>
          <a:p>
            <a:endParaRPr lang="en-IN"/>
          </a:p>
        </p:txBody>
      </p:sp>
      <p:sp>
        <p:nvSpPr>
          <p:cNvPr id="21" name="Text 19">
            <a:extLst>
              <a:ext uri="{FF2B5EF4-FFF2-40B4-BE49-F238E27FC236}">
                <a16:creationId xmlns:a16="http://schemas.microsoft.com/office/drawing/2014/main" id="{700C9A1D-360D-212A-46D0-ABA27118E34B}"/>
              </a:ext>
            </a:extLst>
          </p:cNvPr>
          <p:cNvSpPr/>
          <p:nvPr/>
        </p:nvSpPr>
        <p:spPr>
          <a:xfrm>
            <a:off x="6446520" y="3803904"/>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Score Breakdown</a:t>
            </a:r>
            <a:endParaRPr lang="en-US" sz="1200" dirty="0"/>
          </a:p>
        </p:txBody>
      </p:sp>
      <p:sp>
        <p:nvSpPr>
          <p:cNvPr id="22" name="Text 20">
            <a:extLst>
              <a:ext uri="{FF2B5EF4-FFF2-40B4-BE49-F238E27FC236}">
                <a16:creationId xmlns:a16="http://schemas.microsoft.com/office/drawing/2014/main" id="{0D2D518B-8182-A467-DFD0-DCEEF6F0A0F0}"/>
              </a:ext>
            </a:extLst>
          </p:cNvPr>
          <p:cNvSpPr/>
          <p:nvPr/>
        </p:nvSpPr>
        <p:spPr>
          <a:xfrm>
            <a:off x="6446520" y="4187952"/>
            <a:ext cx="2286000" cy="365760"/>
          </a:xfrm>
          <a:prstGeom prst="rect">
            <a:avLst/>
          </a:prstGeom>
          <a:noFill/>
          <a:ln/>
        </p:spPr>
        <p:txBody>
          <a:bodyPr wrap="square" rtlCol="0" anchor="ctr"/>
          <a:lstStyle/>
          <a:p>
            <a:pPr marL="0" indent="0">
              <a:buNone/>
            </a:pPr>
            <a:r>
              <a:rPr lang="en-US" sz="1000" dirty="0">
                <a:solidFill>
                  <a:srgbClr val="4E6E8A"/>
                </a:solidFill>
                <a:latin typeface="Calibri" pitchFamily="34" charset="0"/>
                <a:ea typeface="Calibri" pitchFamily="34" charset="-122"/>
                <a:cs typeface="Calibri" pitchFamily="34" charset="-120"/>
              </a:rPr>
              <a:t>Collapsible per-signal detail table</a:t>
            </a:r>
            <a:endParaRPr lang="en-US" sz="1000" dirty="0"/>
          </a:p>
        </p:txBody>
      </p:sp>
      <p:sp>
        <p:nvSpPr>
          <p:cNvPr id="23" name="Text 21">
            <a:extLst>
              <a:ext uri="{FF2B5EF4-FFF2-40B4-BE49-F238E27FC236}">
                <a16:creationId xmlns:a16="http://schemas.microsoft.com/office/drawing/2014/main" id="{4A905D27-F5C7-D840-8B49-49F8658825E8}"/>
              </a:ext>
            </a:extLst>
          </p:cNvPr>
          <p:cNvSpPr/>
          <p:nvPr/>
        </p:nvSpPr>
        <p:spPr>
          <a:xfrm>
            <a:off x="320040" y="4892040"/>
            <a:ext cx="8503920" cy="201168"/>
          </a:xfrm>
          <a:prstGeom prst="rect">
            <a:avLst/>
          </a:prstGeom>
          <a:noFill/>
          <a:ln/>
        </p:spPr>
        <p:txBody>
          <a:bodyPr wrap="square" rtlCol="0" anchor="ctr"/>
          <a:lstStyle/>
          <a:p>
            <a:pPr marL="0" indent="0" algn="ctr">
              <a:buNone/>
            </a:pPr>
            <a:r>
              <a:rPr lang="en-US" sz="900" dirty="0">
                <a:solidFill>
                  <a:srgbClr val="4E6E8A"/>
                </a:solidFill>
                <a:latin typeface="Calibri" pitchFamily="34" charset="0"/>
                <a:ea typeface="Calibri" pitchFamily="34" charset="-122"/>
                <a:cs typeface="Calibri" pitchFamily="34" charset="-120"/>
              </a:rPr>
              <a:t>Built with Streamlit  ·  Python 3.13  ·  Anaconda environment</a:t>
            </a:r>
            <a:endParaRPr lang="en-US" sz="900" dirty="0"/>
          </a:p>
        </p:txBody>
      </p:sp>
      <p:pic>
        <p:nvPicPr>
          <p:cNvPr id="24" name="Picture 23">
            <a:extLst>
              <a:ext uri="{FF2B5EF4-FFF2-40B4-BE49-F238E27FC236}">
                <a16:creationId xmlns:a16="http://schemas.microsoft.com/office/drawing/2014/main" id="{97A97383-7B41-A0F5-AD08-CC06FD8C8DE3}"/>
              </a:ext>
            </a:extLst>
          </p:cNvPr>
          <p:cNvPicPr>
            <a:picLocks noChangeAspect="1"/>
          </p:cNvPicPr>
          <p:nvPr/>
        </p:nvPicPr>
        <p:blipFill>
          <a:blip r:embed="rId3"/>
          <a:srcRect t="19049" r="80727" b="14847"/>
          <a:stretch>
            <a:fillRect/>
          </a:stretch>
        </p:blipFill>
        <p:spPr>
          <a:xfrm>
            <a:off x="411480" y="809097"/>
            <a:ext cx="1463040" cy="3310128"/>
          </a:xfrm>
          <a:prstGeom prst="rect">
            <a:avLst/>
          </a:prstGeom>
          <a:ln>
            <a:solidFill>
              <a:srgbClr val="92D050"/>
            </a:solidFill>
          </a:ln>
          <a:effectLst>
            <a:outerShdw blurRad="292100" dist="139700" dir="2700000" algn="tl" rotWithShape="0">
              <a:srgbClr val="333333">
                <a:alpha val="65000"/>
              </a:srgbClr>
            </a:outerShdw>
          </a:effectLst>
        </p:spPr>
      </p:pic>
      <p:pic>
        <p:nvPicPr>
          <p:cNvPr id="26" name="Picture 25">
            <a:extLst>
              <a:ext uri="{FF2B5EF4-FFF2-40B4-BE49-F238E27FC236}">
                <a16:creationId xmlns:a16="http://schemas.microsoft.com/office/drawing/2014/main" id="{8DCBA04A-BFFE-49ED-D2F4-AE39829E1CE9}"/>
              </a:ext>
            </a:extLst>
          </p:cNvPr>
          <p:cNvPicPr>
            <a:picLocks noChangeAspect="1"/>
          </p:cNvPicPr>
          <p:nvPr/>
        </p:nvPicPr>
        <p:blipFill>
          <a:blip r:embed="rId4"/>
          <a:stretch>
            <a:fillRect/>
          </a:stretch>
        </p:blipFill>
        <p:spPr>
          <a:xfrm>
            <a:off x="3139026" y="2768294"/>
            <a:ext cx="2920812" cy="2024932"/>
          </a:xfrm>
          <a:prstGeom prst="rect">
            <a:avLst/>
          </a:prstGeom>
          <a:ln>
            <a:solidFill>
              <a:schemeClr val="accent4">
                <a:lumMod val="60000"/>
                <a:lumOff val="40000"/>
              </a:schemeClr>
            </a:solidFill>
          </a:ln>
        </p:spPr>
      </p:pic>
    </p:spTree>
    <p:extLst>
      <p:ext uri="{BB962C8B-B14F-4D97-AF65-F5344CB8AC3E}">
        <p14:creationId xmlns:p14="http://schemas.microsoft.com/office/powerpoint/2010/main" val="1682148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Evaluation Results — Ablation Study</a:t>
            </a:r>
            <a:endParaRPr lang="en-US" sz="2100" dirty="0"/>
          </a:p>
        </p:txBody>
      </p:sp>
      <p:sp>
        <p:nvSpPr>
          <p:cNvPr id="5" name="Shape 3"/>
          <p:cNvSpPr/>
          <p:nvPr/>
        </p:nvSpPr>
        <p:spPr>
          <a:xfrm>
            <a:off x="320040" y="658368"/>
            <a:ext cx="8503920" cy="411480"/>
          </a:xfrm>
          <a:prstGeom prst="rect">
            <a:avLst/>
          </a:prstGeom>
          <a:solidFill>
            <a:srgbClr val="1C3052"/>
          </a:solidFill>
          <a:ln w="12700">
            <a:solidFill>
              <a:srgbClr val="1C3052"/>
            </a:solidFill>
            <a:prstDash val="solid"/>
          </a:ln>
        </p:spPr>
        <p:txBody>
          <a:bodyPr/>
          <a:lstStyle/>
          <a:p>
            <a:endParaRPr lang="en-IN"/>
          </a:p>
        </p:txBody>
      </p:sp>
      <p:sp>
        <p:nvSpPr>
          <p:cNvPr id="6" name="Shape 4"/>
          <p:cNvSpPr/>
          <p:nvPr/>
        </p:nvSpPr>
        <p:spPr>
          <a:xfrm>
            <a:off x="320040" y="658368"/>
            <a:ext cx="64008" cy="411480"/>
          </a:xfrm>
          <a:prstGeom prst="rect">
            <a:avLst/>
          </a:prstGeom>
          <a:solidFill>
            <a:srgbClr val="2EC4A0"/>
          </a:solidFill>
          <a:ln w="12700">
            <a:solidFill>
              <a:srgbClr val="2EC4A0"/>
            </a:solidFill>
            <a:prstDash val="solid"/>
          </a:ln>
        </p:spPr>
        <p:txBody>
          <a:bodyPr/>
          <a:lstStyle/>
          <a:p>
            <a:endParaRPr lang="en-IN"/>
          </a:p>
        </p:txBody>
      </p:sp>
      <p:sp>
        <p:nvSpPr>
          <p:cNvPr id="7" name="Text 5"/>
          <p:cNvSpPr/>
          <p:nvPr/>
        </p:nvSpPr>
        <p:spPr>
          <a:xfrm>
            <a:off x="502920" y="658368"/>
            <a:ext cx="8229600" cy="411480"/>
          </a:xfrm>
          <a:prstGeom prst="rect">
            <a:avLst/>
          </a:prstGeom>
          <a:noFill/>
          <a:ln/>
        </p:spPr>
        <p:txBody>
          <a:bodyPr wrap="square" rtlCol="0" anchor="ctr"/>
          <a:lstStyle/>
          <a:p>
            <a:pPr marL="0" indent="0">
              <a:buNone/>
            </a:pPr>
            <a:r>
              <a:rPr lang="en-US" sz="1100" dirty="0">
                <a:solidFill>
                  <a:srgbClr val="B8D0E8"/>
                </a:solidFill>
                <a:latin typeface="Calibri" pitchFamily="34" charset="0"/>
                <a:ea typeface="Calibri" pitchFamily="34" charset="-122"/>
                <a:cs typeface="Calibri" pitchFamily="34" charset="-120"/>
              </a:rPr>
              <a:t>59 queries written  ·  35 with relevance judgements  ·  Binary relevance (TREC format)  ·  Evaluation tool: pytrec_eval-terrier</a:t>
            </a:r>
            <a:endParaRPr lang="en-US" sz="1100" dirty="0"/>
          </a:p>
        </p:txBody>
      </p:sp>
      <p:sp>
        <p:nvSpPr>
          <p:cNvPr id="8" name="Text 6"/>
          <p:cNvSpPr/>
          <p:nvPr/>
        </p:nvSpPr>
        <p:spPr>
          <a:xfrm>
            <a:off x="320040" y="1143000"/>
            <a:ext cx="2697480" cy="292608"/>
          </a:xfrm>
          <a:prstGeom prst="rect">
            <a:avLst/>
          </a:prstGeom>
          <a:noFill/>
          <a:ln/>
        </p:spPr>
        <p:txBody>
          <a:bodyPr wrap="square" rtlCol="0" anchor="ctr"/>
          <a:lstStyle/>
          <a:p>
            <a:pPr marL="0" indent="0">
              <a:buNone/>
            </a:pPr>
            <a:r>
              <a:rPr lang="en-US" sz="1000" b="1" dirty="0">
                <a:solidFill>
                  <a:srgbClr val="4A9EFF"/>
                </a:solidFill>
                <a:latin typeface="Calibri" pitchFamily="34" charset="0"/>
                <a:ea typeface="Calibri" pitchFamily="34" charset="-122"/>
                <a:cs typeface="Calibri" pitchFamily="34" charset="-120"/>
              </a:rPr>
              <a:t>MAP  </a:t>
            </a:r>
            <a:r>
              <a:rPr lang="en-US" sz="1000" dirty="0">
                <a:solidFill>
                  <a:srgbClr val="4E6E8A"/>
                </a:solidFill>
                <a:latin typeface="Calibri" pitchFamily="34" charset="0"/>
                <a:ea typeface="Calibri" pitchFamily="34" charset="-122"/>
                <a:cs typeface="Calibri" pitchFamily="34" charset="-120"/>
              </a:rPr>
              <a:t>Mean Average Precision — overall ranking quality</a:t>
            </a:r>
            <a:endParaRPr lang="en-US" sz="1000" dirty="0"/>
          </a:p>
        </p:txBody>
      </p:sp>
      <p:sp>
        <p:nvSpPr>
          <p:cNvPr id="9" name="Text 7"/>
          <p:cNvSpPr/>
          <p:nvPr/>
        </p:nvSpPr>
        <p:spPr>
          <a:xfrm>
            <a:off x="3154680" y="1143000"/>
            <a:ext cx="2697480" cy="292608"/>
          </a:xfrm>
          <a:prstGeom prst="rect">
            <a:avLst/>
          </a:prstGeom>
          <a:noFill/>
          <a:ln/>
        </p:spPr>
        <p:txBody>
          <a:bodyPr wrap="square" rtlCol="0" anchor="ctr"/>
          <a:lstStyle/>
          <a:p>
            <a:pPr marL="0" indent="0">
              <a:buNone/>
            </a:pPr>
            <a:r>
              <a:rPr lang="en-US" sz="1000" b="1" dirty="0">
                <a:solidFill>
                  <a:srgbClr val="4A9EFF"/>
                </a:solidFill>
                <a:latin typeface="Calibri" pitchFamily="34" charset="0"/>
                <a:ea typeface="Calibri" pitchFamily="34" charset="-122"/>
                <a:cs typeface="Calibri" pitchFamily="34" charset="-120"/>
              </a:rPr>
              <a:t>P@10  </a:t>
            </a:r>
            <a:r>
              <a:rPr lang="en-US" sz="1000" dirty="0">
                <a:solidFill>
                  <a:srgbClr val="4E6E8A"/>
                </a:solidFill>
                <a:latin typeface="Calibri" pitchFamily="34" charset="0"/>
                <a:ea typeface="Calibri" pitchFamily="34" charset="-122"/>
                <a:cs typeface="Calibri" pitchFamily="34" charset="-120"/>
              </a:rPr>
              <a:t>Precision in top 10 results — user-facing quality</a:t>
            </a:r>
            <a:endParaRPr lang="en-US" sz="1000" dirty="0"/>
          </a:p>
        </p:txBody>
      </p:sp>
      <p:sp>
        <p:nvSpPr>
          <p:cNvPr id="10" name="Text 8"/>
          <p:cNvSpPr/>
          <p:nvPr/>
        </p:nvSpPr>
        <p:spPr>
          <a:xfrm>
            <a:off x="5989320" y="1143000"/>
            <a:ext cx="2697480" cy="292608"/>
          </a:xfrm>
          <a:prstGeom prst="rect">
            <a:avLst/>
          </a:prstGeom>
          <a:noFill/>
          <a:ln/>
        </p:spPr>
        <p:txBody>
          <a:bodyPr wrap="square" rtlCol="0" anchor="ctr"/>
          <a:lstStyle/>
          <a:p>
            <a:pPr marL="0" indent="0">
              <a:buNone/>
            </a:pPr>
            <a:r>
              <a:rPr lang="en-US" sz="1000" b="1" dirty="0">
                <a:solidFill>
                  <a:srgbClr val="4A9EFF"/>
                </a:solidFill>
                <a:latin typeface="Calibri" pitchFamily="34" charset="0"/>
                <a:ea typeface="Calibri" pitchFamily="34" charset="-122"/>
                <a:cs typeface="Calibri" pitchFamily="34" charset="-120"/>
              </a:rPr>
              <a:t>Recall@10  </a:t>
            </a:r>
            <a:r>
              <a:rPr lang="en-US" sz="1000" dirty="0">
                <a:solidFill>
                  <a:srgbClr val="4E6E8A"/>
                </a:solidFill>
                <a:latin typeface="Calibri" pitchFamily="34" charset="0"/>
                <a:ea typeface="Calibri" pitchFamily="34" charset="-122"/>
                <a:cs typeface="Calibri" pitchFamily="34" charset="-120"/>
              </a:rPr>
              <a:t>Proportion of relevant docs retrieved in top 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371600" y="1490472"/>
          <a:ext cx="6400800" cy="1508760"/>
        </p:xfrm>
        <a:graphic>
          <a:graphicData uri="http://schemas.openxmlformats.org/drawingml/2006/table">
            <a:tbl>
              <a:tblPr/>
              <a:tblGrid>
                <a:gridCol w="22860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0292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Configuration</a:t>
                      </a:r>
                      <a:endParaRPr lang="en-US" sz="13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MAP</a:t>
                      </a:r>
                      <a:endParaRPr lang="en-US" sz="13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P@10</a:t>
                      </a:r>
                      <a:endParaRPr lang="en-US" sz="13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Recall@10</a:t>
                      </a:r>
                      <a:endParaRPr lang="en-US" sz="13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B8D0E8"/>
                          </a:solidFill>
                          <a:latin typeface="Calibri" pitchFamily="34" charset="0"/>
                          <a:ea typeface="Calibri" pitchFamily="34" charset="-122"/>
                          <a:cs typeface="Calibri" pitchFamily="34" charset="-120"/>
                        </a:rPr>
                        <a:t>BM25F Only</a:t>
                      </a:r>
                      <a:endParaRPr lang="en-US" sz="13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lgn="ctr">
                        <a:buNone/>
                      </a:pPr>
                      <a:r>
                        <a:rPr lang="en-US" sz="1300" b="1" dirty="0">
                          <a:solidFill>
                            <a:srgbClr val="4A9EFF"/>
                          </a:solidFill>
                          <a:latin typeface="Courier New" pitchFamily="34" charset="0"/>
                          <a:ea typeface="Courier New" pitchFamily="34" charset="-122"/>
                          <a:cs typeface="Courier New" pitchFamily="34" charset="-120"/>
                        </a:rPr>
                        <a:t>0.2246</a:t>
                      </a:r>
                      <a:endParaRPr lang="en-US" sz="13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lgn="ctr">
                        <a:buNone/>
                      </a:pPr>
                      <a:r>
                        <a:rPr lang="en-US" sz="1300" b="1" dirty="0">
                          <a:solidFill>
                            <a:srgbClr val="4A9EFF"/>
                          </a:solidFill>
                          <a:latin typeface="Courier New" pitchFamily="34" charset="0"/>
                          <a:ea typeface="Courier New" pitchFamily="34" charset="-122"/>
                          <a:cs typeface="Courier New" pitchFamily="34" charset="-120"/>
                        </a:rPr>
                        <a:t>0.1121</a:t>
                      </a:r>
                      <a:endParaRPr lang="en-US" sz="13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lgn="ctr">
                        <a:buNone/>
                      </a:pPr>
                      <a:r>
                        <a:rPr lang="en-US" sz="1300" b="1" dirty="0">
                          <a:solidFill>
                            <a:srgbClr val="4A9EFF"/>
                          </a:solidFill>
                          <a:latin typeface="Courier New" pitchFamily="34" charset="0"/>
                          <a:ea typeface="Courier New" pitchFamily="34" charset="-122"/>
                          <a:cs typeface="Courier New" pitchFamily="34" charset="-120"/>
                        </a:rPr>
                        <a:t>0.3063</a:t>
                      </a:r>
                      <a:endParaRPr lang="en-US" sz="13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B8D0E8"/>
                          </a:solidFill>
                          <a:latin typeface="Calibri" pitchFamily="34" charset="0"/>
                          <a:ea typeface="Calibri" pitchFamily="34" charset="-122"/>
                          <a:cs typeface="Calibri" pitchFamily="34" charset="-120"/>
                        </a:rPr>
                        <a:t>Full Hybrid</a:t>
                      </a:r>
                      <a:endParaRPr lang="en-US" sz="13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lgn="ctr">
                        <a:buNone/>
                      </a:pPr>
                      <a:r>
                        <a:rPr lang="en-US" sz="1300" b="1" dirty="0">
                          <a:solidFill>
                            <a:srgbClr val="2EC4A0"/>
                          </a:solidFill>
                          <a:latin typeface="Courier New" pitchFamily="34" charset="0"/>
                          <a:ea typeface="Courier New" pitchFamily="34" charset="-122"/>
                          <a:cs typeface="Courier New" pitchFamily="34" charset="-120"/>
                        </a:rPr>
                        <a:t>0.2240</a:t>
                      </a:r>
                      <a:endParaRPr lang="en-US" sz="13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lgn="ctr">
                        <a:buNone/>
                      </a:pPr>
                      <a:r>
                        <a:rPr lang="en-US" sz="1300" b="1" dirty="0">
                          <a:solidFill>
                            <a:srgbClr val="2EC4A0"/>
                          </a:solidFill>
                          <a:latin typeface="Courier New" pitchFamily="34" charset="0"/>
                          <a:ea typeface="Courier New" pitchFamily="34" charset="-122"/>
                          <a:cs typeface="Courier New" pitchFamily="34" charset="-120"/>
                        </a:rPr>
                        <a:t>0.1121</a:t>
                      </a:r>
                      <a:endParaRPr lang="en-US" sz="13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lgn="ctr">
                        <a:buNone/>
                      </a:pPr>
                      <a:r>
                        <a:rPr lang="en-US" sz="1300" b="1" dirty="0">
                          <a:solidFill>
                            <a:srgbClr val="2EC4A0"/>
                          </a:solidFill>
                          <a:latin typeface="Courier New" pitchFamily="34" charset="0"/>
                          <a:ea typeface="Courier New" pitchFamily="34" charset="-122"/>
                          <a:cs typeface="Courier New" pitchFamily="34" charset="-120"/>
                        </a:rPr>
                        <a:t>0.3063</a:t>
                      </a:r>
                      <a:endParaRPr lang="en-US" sz="1300" dirty="0">
                        <a:latin typeface="Courier New" charset="0"/>
                        <a:ea typeface="Courier New" charset="0"/>
                        <a:cs typeface="Courier New"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2"/>
                  </a:ext>
                </a:extLst>
              </a:tr>
            </a:tbl>
          </a:graphicData>
        </a:graphic>
      </p:graphicFrame>
      <p:sp>
        <p:nvSpPr>
          <p:cNvPr id="12" name="Text 9"/>
          <p:cNvSpPr/>
          <p:nvPr/>
        </p:nvSpPr>
        <p:spPr>
          <a:xfrm>
            <a:off x="320040" y="2971800"/>
            <a:ext cx="8503920" cy="347472"/>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Interpretation</a:t>
            </a:r>
            <a:endParaRPr lang="en-US" sz="1300" dirty="0"/>
          </a:p>
        </p:txBody>
      </p:sp>
      <p:sp>
        <p:nvSpPr>
          <p:cNvPr id="13" name="Text 10"/>
          <p:cNvSpPr/>
          <p:nvPr/>
        </p:nvSpPr>
        <p:spPr>
          <a:xfrm>
            <a:off x="320040" y="3337560"/>
            <a:ext cx="8503920" cy="1261872"/>
          </a:xfrm>
          <a:prstGeom prst="rect">
            <a:avLst/>
          </a:prstGeom>
          <a:noFill/>
          <a:ln/>
        </p:spPr>
        <p:txBody>
          <a:bodyPr wrap="square" rtlCol="0" anchor="t"/>
          <a:lstStyle/>
          <a:p>
            <a:pPr marL="342900" indent="-342900">
              <a:spcAft>
                <a:spcPts val="500"/>
              </a:spcAft>
              <a:buSzPct val="100000"/>
              <a:buChar char="•"/>
            </a:pPr>
            <a:r>
              <a:rPr lang="en-US" sz="1100" dirty="0">
                <a:solidFill>
                  <a:srgbClr val="B8D0E8"/>
                </a:solidFill>
                <a:latin typeface="Calibri" pitchFamily="34" charset="0"/>
                <a:ea typeface="Calibri" pitchFamily="34" charset="-122"/>
                <a:cs typeface="Calibri" pitchFamily="34" charset="-120"/>
              </a:rPr>
              <a:t>P@10 and Recall@10 are identical, both systems surface the same relevant documents in the top 10.</a:t>
            </a:r>
            <a:endParaRPr lang="en-US" sz="1100" dirty="0"/>
          </a:p>
          <a:p>
            <a:pPr marL="342900" indent="-342900">
              <a:spcAft>
                <a:spcPts val="500"/>
              </a:spcAft>
              <a:buSzPct val="100000"/>
              <a:buChar char="•"/>
            </a:pPr>
            <a:r>
              <a:rPr lang="en-US" sz="1100" dirty="0">
                <a:solidFill>
                  <a:srgbClr val="B8D0E8"/>
                </a:solidFill>
                <a:latin typeface="Calibri" pitchFamily="34" charset="0"/>
                <a:ea typeface="Calibri" pitchFamily="34" charset="-122"/>
                <a:cs typeface="Calibri" pitchFamily="34" charset="-120"/>
              </a:rPr>
              <a:t>BM25F marginally higher MAP by 0.0006, expected with 30 documents; BERT needs a larger pool to meaningfully reorder results.</a:t>
            </a:r>
            <a:endParaRPr lang="en-US" sz="1100" dirty="0"/>
          </a:p>
          <a:p>
            <a:pPr marL="342900" indent="-342900">
              <a:spcAft>
                <a:spcPts val="500"/>
              </a:spcAft>
              <a:buSzPct val="100000"/>
              <a:buChar char="•"/>
            </a:pPr>
            <a:r>
              <a:rPr lang="en-US" sz="1100" dirty="0">
                <a:solidFill>
                  <a:srgbClr val="F5A623"/>
                </a:solidFill>
                <a:latin typeface="Calibri" pitchFamily="34" charset="0"/>
                <a:ea typeface="Calibri" pitchFamily="34" charset="-122"/>
                <a:cs typeface="Calibri" pitchFamily="34" charset="-120"/>
              </a:rPr>
              <a:t>Both sources score authority = 1.0, authority signal has no discriminating power in this corpus. </a:t>
            </a:r>
          </a:p>
          <a:p>
            <a:pPr marL="342900" indent="-342900">
              <a:spcAft>
                <a:spcPts val="500"/>
              </a:spcAft>
              <a:buSzPct val="100000"/>
              <a:buChar char="•"/>
            </a:pPr>
            <a:r>
              <a:rPr lang="en-US" sz="1100" dirty="0">
                <a:solidFill>
                  <a:srgbClr val="F5A623"/>
                </a:solidFill>
                <a:latin typeface="Calibri" pitchFamily="34" charset="0"/>
                <a:ea typeface="Calibri" pitchFamily="34" charset="-122"/>
                <a:cs typeface="Calibri" pitchFamily="34" charset="-120"/>
              </a:rPr>
              <a:t>This confirms BM25F is a strong baseline; the hybrid adds no harm and remains extensible.</a:t>
            </a:r>
            <a:endParaRPr lang="en-US" sz="1100" dirty="0"/>
          </a:p>
        </p:txBody>
      </p:sp>
      <p:sp>
        <p:nvSpPr>
          <p:cNvPr id="14" name="Text 11"/>
          <p:cNvSpPr/>
          <p:nvPr/>
        </p:nvSpPr>
        <p:spPr>
          <a:xfrm>
            <a:off x="320040" y="4709160"/>
            <a:ext cx="8503920" cy="274320"/>
          </a:xfrm>
          <a:prstGeom prst="rect">
            <a:avLst/>
          </a:prstGeom>
          <a:noFill/>
          <a:ln/>
        </p:spPr>
        <p:txBody>
          <a:bodyPr wrap="square" rtlCol="0" anchor="ctr"/>
          <a:lstStyle/>
          <a:p>
            <a:pPr marL="0" indent="0">
              <a:buNone/>
            </a:pPr>
            <a:r>
              <a:rPr lang="en-US" sz="900" i="1" dirty="0">
                <a:solidFill>
                  <a:srgbClr val="4E6E8A"/>
                </a:solidFill>
                <a:latin typeface="Calibri" pitchFamily="34" charset="0"/>
                <a:ea typeface="Calibri" pitchFamily="34" charset="-122"/>
                <a:cs typeface="Calibri" pitchFamily="34" charset="-120"/>
              </a:rPr>
              <a:t>[Screenshot 7: evaluation.py terminal output with ablation results table]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D1B2E"/>
        </a:solidFill>
        <a:effectLst/>
      </p:bgPr>
    </p:bg>
    <p:spTree>
      <p:nvGrpSpPr>
        <p:cNvPr id="1" name=""/>
        <p:cNvGrpSpPr/>
        <p:nvPr/>
      </p:nvGrpSpPr>
      <p:grpSpPr>
        <a:xfrm>
          <a:off x="0" y="0"/>
          <a:ext cx="0" cy="0"/>
          <a:chOff x="0" y="0"/>
          <a:chExt cx="0" cy="0"/>
        </a:xfrm>
      </p:grpSpPr>
      <p:sp>
        <p:nvSpPr>
          <p:cNvPr id="2" name="Shape 0"/>
          <p:cNvSpPr/>
          <p:nvPr/>
        </p:nvSpPr>
        <p:spPr>
          <a:xfrm>
            <a:off x="0" y="0"/>
            <a:ext cx="9144000" cy="566928"/>
          </a:xfrm>
          <a:prstGeom prst="rect">
            <a:avLst/>
          </a:prstGeom>
          <a:solidFill>
            <a:srgbClr val="0A1626"/>
          </a:solidFill>
          <a:ln w="12700">
            <a:solidFill>
              <a:srgbClr val="0A1626"/>
            </a:solidFill>
            <a:prstDash val="solid"/>
          </a:ln>
        </p:spPr>
        <p:txBody>
          <a:bodyPr/>
          <a:lstStyle/>
          <a:p>
            <a:endParaRPr lang="en-IN"/>
          </a:p>
        </p:txBody>
      </p:sp>
      <p:sp>
        <p:nvSpPr>
          <p:cNvPr id="3" name="Shape 1"/>
          <p:cNvSpPr/>
          <p:nvPr/>
        </p:nvSpPr>
        <p:spPr>
          <a:xfrm>
            <a:off x="0" y="0"/>
            <a:ext cx="64008" cy="566928"/>
          </a:xfrm>
          <a:prstGeom prst="rect">
            <a:avLst/>
          </a:prstGeom>
          <a:solidFill>
            <a:srgbClr val="4A9EFF"/>
          </a:solidFill>
          <a:ln w="12700">
            <a:solidFill>
              <a:srgbClr val="4A9EFF"/>
            </a:solidFill>
            <a:prstDash val="solid"/>
          </a:ln>
        </p:spPr>
        <p:txBody>
          <a:bodyPr/>
          <a:lstStyle/>
          <a:p>
            <a:endParaRPr lang="en-IN"/>
          </a:p>
        </p:txBody>
      </p:sp>
      <p:sp>
        <p:nvSpPr>
          <p:cNvPr id="4" name="Text 2"/>
          <p:cNvSpPr/>
          <p:nvPr/>
        </p:nvSpPr>
        <p:spPr>
          <a:xfrm>
            <a:off x="164592" y="0"/>
            <a:ext cx="8869680" cy="56692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Limitations, Future Work &amp; Team Contributions</a:t>
            </a:r>
            <a:endParaRPr lang="en-US" sz="2100" dirty="0"/>
          </a:p>
        </p:txBody>
      </p:sp>
      <p:sp>
        <p:nvSpPr>
          <p:cNvPr id="5" name="Text 3"/>
          <p:cNvSpPr/>
          <p:nvPr/>
        </p:nvSpPr>
        <p:spPr>
          <a:xfrm>
            <a:off x="320040" y="658368"/>
            <a:ext cx="4114800" cy="347472"/>
          </a:xfrm>
          <a:prstGeom prst="rect">
            <a:avLst/>
          </a:prstGeom>
          <a:noFill/>
          <a:ln/>
        </p:spPr>
        <p:txBody>
          <a:bodyPr wrap="square" rtlCol="0" anchor="ctr"/>
          <a:lstStyle/>
          <a:p>
            <a:pPr marL="0" indent="0">
              <a:buNone/>
            </a:pPr>
            <a:r>
              <a:rPr lang="en-US" sz="1300" b="1" dirty="0">
                <a:solidFill>
                  <a:srgbClr val="B8D0E8"/>
                </a:solidFill>
                <a:latin typeface="Calibri" pitchFamily="34" charset="0"/>
                <a:ea typeface="Calibri" pitchFamily="34" charset="-122"/>
                <a:cs typeface="Calibri" pitchFamily="34" charset="-120"/>
              </a:rPr>
              <a:t>Limitations &amp; Future Work</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042416"/>
          <a:ext cx="4160520" cy="1539240"/>
        </p:xfrm>
        <a:graphic>
          <a:graphicData uri="http://schemas.openxmlformats.org/drawingml/2006/table">
            <a:tbl>
              <a:tblPr/>
              <a:tblGrid>
                <a:gridCol w="20574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Current Limitation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Future Direction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30-doc corpus, manual relevance judgements</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100" dirty="0">
                          <a:solidFill>
                            <a:srgbClr val="2EC4A0"/>
                          </a:solidFill>
                          <a:latin typeface="Calibri" pitchFamily="34" charset="0"/>
                          <a:ea typeface="Calibri" pitchFamily="34" charset="-122"/>
                          <a:cs typeface="Calibri" pitchFamily="34" charset="-120"/>
                        </a:rPr>
                        <a:t>TREC-NEWS benchmark dataset</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BERT latency ~2s per query for 100 candidates</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buNone/>
                      </a:pPr>
                      <a:r>
                        <a:rPr lang="en-US" sz="1100" dirty="0">
                          <a:solidFill>
                            <a:srgbClr val="2EC4A0"/>
                          </a:solidFill>
                          <a:latin typeface="Calibri" pitchFamily="34" charset="0"/>
                          <a:ea typeface="Calibri" pitchFamily="34" charset="-122"/>
                          <a:cs typeface="Calibri" pitchFamily="34" charset="-120"/>
                        </a:rPr>
                        <a:t>Bi-encoder (ColBERT) pre-computed embeddings</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B8D0E8"/>
                          </a:solidFill>
                          <a:latin typeface="Calibri" pitchFamily="34" charset="0"/>
                          <a:ea typeface="Calibri" pitchFamily="34" charset="-122"/>
                          <a:cs typeface="Calibri" pitchFamily="34" charset="-120"/>
                        </a:rPr>
                        <a:t>BBC + NYT both authority = 1.0 — no discrimination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100" dirty="0">
                          <a:solidFill>
                            <a:srgbClr val="2EC4A0"/>
                          </a:solidFill>
                          <a:latin typeface="Calibri" pitchFamily="34" charset="0"/>
                          <a:ea typeface="Calibri" pitchFamily="34" charset="-122"/>
                          <a:cs typeface="Calibri" pitchFamily="34" charset="-120"/>
                        </a:rPr>
                        <a:t>Expand sources with differentiated scores</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3"/>
                  </a:ext>
                </a:extLst>
              </a:tr>
            </a:tbl>
          </a:graphicData>
        </a:graphic>
      </p:graphicFrame>
      <p:sp>
        <p:nvSpPr>
          <p:cNvPr id="7" name="Text 4"/>
          <p:cNvSpPr/>
          <p:nvPr/>
        </p:nvSpPr>
        <p:spPr>
          <a:xfrm>
            <a:off x="4663440" y="658368"/>
            <a:ext cx="4160520" cy="347472"/>
          </a:xfrm>
          <a:prstGeom prst="rect">
            <a:avLst/>
          </a:prstGeom>
          <a:noFill/>
          <a:ln/>
        </p:spPr>
        <p:txBody>
          <a:bodyPr wrap="square" rtlCol="0" anchor="ctr"/>
          <a:lstStyle/>
          <a:p>
            <a:pPr marL="0" indent="0">
              <a:buNone/>
            </a:pPr>
            <a:r>
              <a:rPr lang="en-US" sz="1300" b="1" dirty="0">
                <a:solidFill>
                  <a:srgbClr val="B8D0E8"/>
                </a:solidFill>
                <a:latin typeface="Calibri" pitchFamily="34" charset="0"/>
                <a:ea typeface="Calibri" pitchFamily="34" charset="-122"/>
                <a:cs typeface="Calibri" pitchFamily="34" charset="-120"/>
              </a:rPr>
              <a:t>Team Contributions</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663440" y="1042416"/>
          <a:ext cx="4160520" cy="1844040"/>
        </p:xfrm>
        <a:graphic>
          <a:graphicData uri="http://schemas.openxmlformats.org/drawingml/2006/table">
            <a:tbl>
              <a:tblPr/>
              <a:tblGrid>
                <a:gridCol w="137160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tblGrid>
              <a:tr h="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Member</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Role &amp; Deliverables</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0A1626"/>
                    </a:solidFill>
                  </a:tcPr>
                </a:tc>
                <a:extLst>
                  <a:ext uri="{0D108BD9-81ED-4DB2-BD59-A6C34878D82A}">
                    <a16:rowId xmlns:a16="http://schemas.microsoft.com/office/drawing/2014/main" val="10000"/>
                  </a:ext>
                </a:extLst>
              </a:tr>
              <a:tr h="0">
                <a:tc>
                  <a:txBody>
                    <a:bodyPr/>
                    <a:lstStyle/>
                    <a:p>
                      <a:pPr marL="0" indent="0">
                        <a:buNone/>
                      </a:pPr>
                      <a:r>
                        <a:rPr lang="en-US" sz="1100" b="1" dirty="0">
                          <a:solidFill>
                            <a:srgbClr val="4A9EFF"/>
                          </a:solidFill>
                          <a:latin typeface="Calibri" pitchFamily="34" charset="0"/>
                          <a:ea typeface="Calibri" pitchFamily="34" charset="-122"/>
                          <a:cs typeface="Calibri" pitchFamily="34" charset="-120"/>
                        </a:rPr>
                        <a:t>Trijit Adhikary</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000" dirty="0">
                          <a:solidFill>
                            <a:srgbClr val="B8D0E8"/>
                          </a:solidFill>
                          <a:latin typeface="Calibri" pitchFamily="34" charset="0"/>
                          <a:ea typeface="Calibri" pitchFamily="34" charset="-122"/>
                          <a:cs typeface="Calibri" pitchFamily="34" charset="-120"/>
                        </a:rPr>
                        <a:t>Engine: crawler, BM25F index, hybrid pipeline, preprocessing</a:t>
                      </a:r>
                      <a:endParaRPr lang="en-US" sz="10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1"/>
                  </a:ext>
                </a:extLst>
              </a:tr>
              <a:tr h="0">
                <a:tc>
                  <a:txBody>
                    <a:bodyPr/>
                    <a:lstStyle/>
                    <a:p>
                      <a:pPr marL="0" indent="0">
                        <a:buNone/>
                      </a:pPr>
                      <a:r>
                        <a:rPr lang="en-US" sz="1100" b="1" dirty="0">
                          <a:solidFill>
                            <a:srgbClr val="2EC4A0"/>
                          </a:solidFill>
                          <a:latin typeface="Calibri" pitchFamily="34" charset="0"/>
                          <a:ea typeface="Calibri" pitchFamily="34" charset="-122"/>
                          <a:cs typeface="Calibri" pitchFamily="34" charset="-120"/>
                        </a:rPr>
                        <a:t>Ricky Sharan</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buNone/>
                      </a:pPr>
                      <a:r>
                        <a:rPr lang="en-US" sz="1000" dirty="0">
                          <a:solidFill>
                            <a:srgbClr val="B8D0E8"/>
                          </a:solidFill>
                          <a:latin typeface="Calibri" pitchFamily="34" charset="0"/>
                          <a:ea typeface="Calibri" pitchFamily="34" charset="-122"/>
                          <a:cs typeface="Calibri" pitchFamily="34" charset="-120"/>
                        </a:rPr>
                        <a:t>Evaluation: pytrec_eval pipeline, queries, relevance judgements</a:t>
                      </a:r>
                      <a:endParaRPr lang="en-US" sz="10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extLst>
                  <a:ext uri="{0D108BD9-81ED-4DB2-BD59-A6C34878D82A}">
                    <a16:rowId xmlns:a16="http://schemas.microsoft.com/office/drawing/2014/main" val="10002"/>
                  </a:ext>
                </a:extLst>
              </a:tr>
              <a:tr h="0">
                <a:tc>
                  <a:txBody>
                    <a:bodyPr/>
                    <a:lstStyle/>
                    <a:p>
                      <a:pPr marL="0" indent="0">
                        <a:buNone/>
                      </a:pPr>
                      <a:r>
                        <a:rPr lang="en-US" sz="1100" b="1" dirty="0">
                          <a:solidFill>
                            <a:srgbClr val="F5A623"/>
                          </a:solidFill>
                          <a:latin typeface="Calibri" pitchFamily="34" charset="0"/>
                          <a:ea typeface="Calibri" pitchFamily="34" charset="-122"/>
                          <a:cs typeface="Calibri" pitchFamily="34" charset="-120"/>
                        </a:rPr>
                        <a:t>Siddhant Warule</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tc>
                  <a:txBody>
                    <a:bodyPr/>
                    <a:lstStyle/>
                    <a:p>
                      <a:pPr marL="0" indent="0">
                        <a:buNone/>
                      </a:pPr>
                      <a:r>
                        <a:rPr lang="en-US" sz="1000" dirty="0">
                          <a:solidFill>
                            <a:srgbClr val="B8D0E8"/>
                          </a:solidFill>
                          <a:latin typeface="Calibri" pitchFamily="34" charset="0"/>
                          <a:ea typeface="Calibri" pitchFamily="34" charset="-122"/>
                          <a:cs typeface="Calibri" pitchFamily="34" charset="-120"/>
                        </a:rPr>
                        <a:t>Data: corpus curation, relevance judgements, requirements</a:t>
                      </a:r>
                      <a:endParaRPr lang="en-US" sz="10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52338"/>
                    </a:solidFill>
                  </a:tcPr>
                </a:tc>
                <a:extLst>
                  <a:ext uri="{0D108BD9-81ED-4DB2-BD59-A6C34878D82A}">
                    <a16:rowId xmlns:a16="http://schemas.microsoft.com/office/drawing/2014/main" val="10003"/>
                  </a:ext>
                </a:extLst>
              </a:tr>
              <a:tr h="0">
                <a:tc>
                  <a:txBody>
                    <a:bodyPr/>
                    <a:lstStyle/>
                    <a:p>
                      <a:pPr marL="0" indent="0">
                        <a:buNone/>
                      </a:pPr>
                      <a:r>
                        <a:rPr lang="en-US" sz="1100" b="1" dirty="0">
                          <a:solidFill>
                            <a:srgbClr val="FF6464"/>
                          </a:solidFill>
                          <a:latin typeface="Calibri" pitchFamily="34" charset="0"/>
                          <a:ea typeface="Calibri" pitchFamily="34" charset="-122"/>
                          <a:cs typeface="Calibri" pitchFamily="34" charset="-120"/>
                        </a:rPr>
                        <a:t>Aditya Kumar</a:t>
                      </a:r>
                      <a:endParaRPr lang="en-US" sz="11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tc>
                  <a:txBody>
                    <a:bodyPr/>
                    <a:lstStyle/>
                    <a:p>
                      <a:pPr marL="0" indent="0">
                        <a:buNone/>
                      </a:pPr>
                      <a:r>
                        <a:rPr lang="en-US" sz="1000" dirty="0">
                          <a:solidFill>
                            <a:srgbClr val="B8D0E8"/>
                          </a:solidFill>
                          <a:latin typeface="Calibri" pitchFamily="34" charset="0"/>
                          <a:ea typeface="Calibri" pitchFamily="34" charset="-122"/>
                          <a:cs typeface="Calibri" pitchFamily="34" charset="-120"/>
                        </a:rPr>
                        <a:t>UI: Streamlit app (app.py), slides, presentation coordination</a:t>
                      </a:r>
                      <a:endParaRPr lang="en-US" sz="1000" dirty="0">
                        <a:latin typeface="Calibri" charset="0"/>
                        <a:ea typeface="Calibri" charset="0"/>
                        <a:cs typeface="Calibri" charset="0"/>
                      </a:endParaRPr>
                    </a:p>
                  </a:txBody>
                  <a:tcPr>
                    <a:lnL w="6350" cap="flat" cmpd="sng" algn="ctr">
                      <a:solidFill>
                        <a:srgbClr val="0A1626"/>
                      </a:solidFill>
                      <a:prstDash val="solid"/>
                      <a:round/>
                      <a:headEnd type="none" w="med" len="med"/>
                      <a:tailEnd type="none" w="med" len="med"/>
                    </a:lnL>
                    <a:lnR w="6350" cap="flat" cmpd="sng" algn="ctr">
                      <a:solidFill>
                        <a:srgbClr val="0A1626"/>
                      </a:solidFill>
                      <a:prstDash val="solid"/>
                      <a:round/>
                      <a:headEnd type="none" w="med" len="med"/>
                      <a:tailEnd type="none" w="med" len="med"/>
                    </a:lnR>
                    <a:lnT w="6350" cap="flat" cmpd="sng" algn="ctr">
                      <a:solidFill>
                        <a:srgbClr val="0A1626"/>
                      </a:solidFill>
                      <a:prstDash val="solid"/>
                      <a:round/>
                      <a:headEnd type="none" w="med" len="med"/>
                      <a:tailEnd type="none" w="med" len="med"/>
                    </a:lnT>
                    <a:lnB w="6350" cap="flat" cmpd="sng" algn="ctr">
                      <a:solidFill>
                        <a:srgbClr val="0A1626"/>
                      </a:solidFill>
                      <a:prstDash val="solid"/>
                      <a:round/>
                      <a:headEnd type="none" w="med" len="med"/>
                      <a:tailEnd type="none" w="med" len="med"/>
                    </a:lnB>
                    <a:solidFill>
                      <a:srgbClr val="1C3052"/>
                    </a:solidFill>
                  </a:tcPr>
                </a:tc>
                <a:extLst>
                  <a:ext uri="{0D108BD9-81ED-4DB2-BD59-A6C34878D82A}">
                    <a16:rowId xmlns:a16="http://schemas.microsoft.com/office/drawing/2014/main" val="10004"/>
                  </a:ext>
                </a:extLst>
              </a:tr>
            </a:tbl>
          </a:graphicData>
        </a:graphic>
      </p:graphicFrame>
      <p:sp>
        <p:nvSpPr>
          <p:cNvPr id="9" name="Shape 5"/>
          <p:cNvSpPr/>
          <p:nvPr/>
        </p:nvSpPr>
        <p:spPr>
          <a:xfrm>
            <a:off x="320040" y="4636008"/>
            <a:ext cx="8503920" cy="384048"/>
          </a:xfrm>
          <a:prstGeom prst="rect">
            <a:avLst/>
          </a:prstGeom>
          <a:solidFill>
            <a:srgbClr val="1C3052"/>
          </a:solidFill>
          <a:ln w="12700">
            <a:solidFill>
              <a:srgbClr val="1C3052"/>
            </a:solidFill>
            <a:prstDash val="solid"/>
          </a:ln>
        </p:spPr>
        <p:txBody>
          <a:bodyPr/>
          <a:lstStyle/>
          <a:p>
            <a:endParaRPr lang="en-IN"/>
          </a:p>
        </p:txBody>
      </p:sp>
      <p:sp>
        <p:nvSpPr>
          <p:cNvPr id="10" name="Shape 6"/>
          <p:cNvSpPr/>
          <p:nvPr/>
        </p:nvSpPr>
        <p:spPr>
          <a:xfrm>
            <a:off x="320040" y="4636008"/>
            <a:ext cx="64008" cy="384048"/>
          </a:xfrm>
          <a:prstGeom prst="rect">
            <a:avLst/>
          </a:prstGeom>
          <a:solidFill>
            <a:srgbClr val="4A9EFF"/>
          </a:solidFill>
          <a:ln w="12700">
            <a:solidFill>
              <a:srgbClr val="4A9EFF"/>
            </a:solidFill>
            <a:prstDash val="solid"/>
          </a:ln>
        </p:spPr>
        <p:txBody>
          <a:bodyPr/>
          <a:lstStyle/>
          <a:p>
            <a:endParaRPr lang="en-IN"/>
          </a:p>
        </p:txBody>
      </p:sp>
      <p:sp>
        <p:nvSpPr>
          <p:cNvPr id="11" name="Text 7"/>
          <p:cNvSpPr/>
          <p:nvPr/>
        </p:nvSpPr>
        <p:spPr>
          <a:xfrm>
            <a:off x="502920" y="4636008"/>
            <a:ext cx="8229600" cy="384048"/>
          </a:xfrm>
          <a:prstGeom prst="rect">
            <a:avLst/>
          </a:prstGeom>
          <a:noFill/>
          <a:ln/>
        </p:spPr>
        <p:txBody>
          <a:bodyPr wrap="square" rtlCol="0" anchor="ctr"/>
          <a:lstStyle/>
          <a:p>
            <a:pPr marL="0" indent="0" algn="ctr">
              <a:buNone/>
            </a:pPr>
            <a:r>
              <a:rPr lang="en-US" sz="1100" dirty="0">
                <a:solidFill>
                  <a:srgbClr val="4E6E8A"/>
                </a:solidFill>
                <a:latin typeface="Calibri" pitchFamily="34" charset="0"/>
                <a:ea typeface="Calibri" pitchFamily="34" charset="-122"/>
                <a:cs typeface="Calibri" pitchFamily="34" charset="-120"/>
              </a:rPr>
              <a:t>ECS736P Information Retrieval  ·  Queen Mary University of London  ·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442</TotalTime>
  <Words>2371</Words>
  <Application>Microsoft Office PowerPoint</Application>
  <PresentationFormat>On-screen Show (16:9)</PresentationFormat>
  <Paragraphs>224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News Search Engine</dc:title>
  <dc:subject>PptxGenJS Presentation</dc:subject>
  <dc:creator>PptxGenJS</dc:creator>
  <cp:lastModifiedBy>Aditya Kumar</cp:lastModifiedBy>
  <cp:revision>2</cp:revision>
  <dcterms:created xsi:type="dcterms:W3CDTF">2026-04-07T19:35:53Z</dcterms:created>
  <dcterms:modified xsi:type="dcterms:W3CDTF">2026-04-08T03:02:30Z</dcterms:modified>
</cp:coreProperties>
</file>